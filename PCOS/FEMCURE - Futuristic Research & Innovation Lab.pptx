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69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</p:sldIdLst>
  <p:sldSz cx="18288000" cy="10287000"/>
  <p:notesSz cx="6858000" cy="9144000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Be Vietnam Ultra-Bold" panose="020B0604020202020204" charset="0"/>
      <p:regular r:id="rId18"/>
    </p:embeddedFont>
    <p:embeddedFont>
      <p:font typeface="Be Vietnam" panose="020B0604020202020204" charset="0"/>
      <p:regular r:id="rId19"/>
    </p:embeddedFont>
    <p:embeddedFont>
      <p:font typeface="Magnolia Script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208"/>
    <a:srgbClr val="13A6AC"/>
    <a:srgbClr val="FF7D29"/>
    <a:srgbClr val="DD36F7"/>
    <a:srgbClr val="70177E"/>
    <a:srgbClr val="0070C0"/>
    <a:srgbClr val="03045E"/>
    <a:srgbClr val="185A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41" autoAdjust="0"/>
    <p:restoredTop sz="94369" autoAdjust="0"/>
  </p:normalViewPr>
  <p:slideViewPr>
    <p:cSldViewPr>
      <p:cViewPr varScale="1">
        <p:scale>
          <a:sx n="50" d="100"/>
          <a:sy n="50" d="100"/>
        </p:scale>
        <p:origin x="468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8.svg"/><Relationship Id="rId7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dawn.com/news/1909622/polycystic-ovary-syndrome-can-lead-to-women-health-issues-expert" TargetMode="External"/><Relationship Id="rId5" Type="http://schemas.openxmlformats.org/officeDocument/2006/relationships/image" Target="../media/image10.svg"/><Relationship Id="rId10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dc.gov/diabetes/risk-factors/pcos-polycystic-ovary-syndrome.html?utm_source=chatgpt.com" TargetMode="External"/><Relationship Id="rId3" Type="http://schemas.openxmlformats.org/officeDocument/2006/relationships/image" Target="../media/image16.svg"/><Relationship Id="rId7" Type="http://schemas.openxmlformats.org/officeDocument/2006/relationships/hyperlink" Target="https://pmc.ncbi.nlm.nih.gov/articles/PMC10212137/?utm_source=chatgpt.com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sv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hyperlink" Target="https://www.researchgate.net/publication/370801848_Association_of_Polycystic_Ovarian_Syndrome_with_Endometrial_Carcinoma_among_Premenopausal_Female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svg"/><Relationship Id="rId5" Type="http://schemas.openxmlformats.org/officeDocument/2006/relationships/image" Target="../media/image15.png"/><Relationship Id="rId4" Type="http://schemas.openxmlformats.org/officeDocument/2006/relationships/image" Target="../media/image2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28.svg"/><Relationship Id="rId7" Type="http://schemas.openxmlformats.org/officeDocument/2006/relationships/image" Target="../media/image32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30.svg"/><Relationship Id="rId4" Type="http://schemas.openxmlformats.org/officeDocument/2006/relationships/image" Target="../media/image19.png"/><Relationship Id="rId9" Type="http://schemas.openxmlformats.org/officeDocument/2006/relationships/image" Target="../media/image3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femtech.health/" TargetMode="External"/><Relationship Id="rId4" Type="http://schemas.openxmlformats.org/officeDocument/2006/relationships/image" Target="../media/image3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sv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6.svg"/><Relationship Id="rId5" Type="http://schemas.openxmlformats.org/officeDocument/2006/relationships/image" Target="../media/image29.png"/><Relationship Id="rId4" Type="http://schemas.openxmlformats.org/officeDocument/2006/relationships/image" Target="../media/image28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3409247">
            <a:off x="-1737064" y="679537"/>
            <a:ext cx="4041745" cy="4114800"/>
          </a:xfrm>
          <a:custGeom>
            <a:avLst/>
            <a:gdLst/>
            <a:ahLst/>
            <a:cxnLst/>
            <a:rect l="l" t="t" r="r" b="b"/>
            <a:pathLst>
              <a:path w="4041745" h="4114800">
                <a:moveTo>
                  <a:pt x="0" y="0"/>
                </a:moveTo>
                <a:lnTo>
                  <a:pt x="4041745" y="0"/>
                </a:lnTo>
                <a:lnTo>
                  <a:pt x="40417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rot="5400000">
            <a:off x="10055059" y="-62874"/>
            <a:ext cx="772289" cy="2183149"/>
          </a:xfrm>
          <a:custGeom>
            <a:avLst/>
            <a:gdLst/>
            <a:ahLst/>
            <a:cxnLst/>
            <a:rect l="l" t="t" r="r" b="b"/>
            <a:pathLst>
              <a:path w="772289" h="2183149">
                <a:moveTo>
                  <a:pt x="0" y="0"/>
                </a:moveTo>
                <a:lnTo>
                  <a:pt x="772289" y="0"/>
                </a:lnTo>
                <a:lnTo>
                  <a:pt x="772289" y="2183148"/>
                </a:lnTo>
                <a:lnTo>
                  <a:pt x="0" y="21831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338473" y="-2057400"/>
            <a:ext cx="4681937" cy="4114800"/>
          </a:xfrm>
          <a:custGeom>
            <a:avLst/>
            <a:gdLst/>
            <a:ahLst/>
            <a:cxnLst/>
            <a:rect l="l" t="t" r="r" b="b"/>
            <a:pathLst>
              <a:path w="4681937" h="4114800">
                <a:moveTo>
                  <a:pt x="0" y="0"/>
                </a:moveTo>
                <a:lnTo>
                  <a:pt x="4681936" y="0"/>
                </a:lnTo>
                <a:lnTo>
                  <a:pt x="46819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>
            <a:off x="5962602" y="7711243"/>
            <a:ext cx="4681937" cy="4114800"/>
          </a:xfrm>
          <a:custGeom>
            <a:avLst/>
            <a:gdLst/>
            <a:ahLst/>
            <a:cxnLst/>
            <a:rect l="l" t="t" r="r" b="b"/>
            <a:pathLst>
              <a:path w="4681937" h="4114800">
                <a:moveTo>
                  <a:pt x="0" y="0"/>
                </a:moveTo>
                <a:lnTo>
                  <a:pt x="4681936" y="0"/>
                </a:lnTo>
                <a:lnTo>
                  <a:pt x="468193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3817597" y="2832487"/>
            <a:ext cx="10652807" cy="3108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403"/>
              </a:lnSpc>
              <a:spcBef>
                <a:spcPct val="0"/>
              </a:spcBef>
            </a:pPr>
            <a:r>
              <a:rPr lang="en-US" sz="18145" b="1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FEMCURE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13891" y="5884025"/>
            <a:ext cx="8779359" cy="570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65"/>
              </a:lnSpc>
              <a:spcBef>
                <a:spcPct val="0"/>
              </a:spcBef>
            </a:pPr>
            <a:r>
              <a:rPr lang="en-US" sz="3403">
                <a:solidFill>
                  <a:srgbClr val="D13B53"/>
                </a:solidFill>
                <a:latin typeface="Be Vietnam"/>
                <a:ea typeface="Be Vietnam"/>
                <a:cs typeface="Be Vietnam"/>
                <a:sym typeface="Be Vietnam"/>
              </a:rPr>
              <a:t>FUTURISTIC RESEARCH &amp; INNOVATION LAB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646511" y="-215062"/>
            <a:ext cx="968733" cy="1814957"/>
          </a:xfrm>
          <a:custGeom>
            <a:avLst/>
            <a:gdLst/>
            <a:ahLst/>
            <a:cxnLst/>
            <a:rect l="l" t="t" r="r" b="b"/>
            <a:pathLst>
              <a:path w="968733" h="1814957">
                <a:moveTo>
                  <a:pt x="0" y="0"/>
                </a:moveTo>
                <a:lnTo>
                  <a:pt x="968734" y="0"/>
                </a:lnTo>
                <a:lnTo>
                  <a:pt x="968734" y="1814957"/>
                </a:lnTo>
                <a:lnTo>
                  <a:pt x="0" y="181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5892009" y="7367555"/>
            <a:ext cx="2395991" cy="2846210"/>
          </a:xfrm>
          <a:custGeom>
            <a:avLst/>
            <a:gdLst/>
            <a:ahLst/>
            <a:cxnLst/>
            <a:rect l="l" t="t" r="r" b="b"/>
            <a:pathLst>
              <a:path w="2395991" h="2846210">
                <a:moveTo>
                  <a:pt x="0" y="0"/>
                </a:moveTo>
                <a:lnTo>
                  <a:pt x="2395991" y="0"/>
                </a:lnTo>
                <a:lnTo>
                  <a:pt x="2395991" y="2846210"/>
                </a:lnTo>
                <a:lnTo>
                  <a:pt x="0" y="284621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25" name="TextBox 25"/>
          <p:cNvSpPr txBox="1"/>
          <p:nvPr/>
        </p:nvSpPr>
        <p:spPr>
          <a:xfrm>
            <a:off x="413836" y="288416"/>
            <a:ext cx="16350164" cy="13024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781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THE SILENT CRISIS: Undiagnosed PCOS</a:t>
            </a:r>
          </a:p>
        </p:txBody>
      </p:sp>
      <p:sp>
        <p:nvSpPr>
          <p:cNvPr id="36" name="TextBox 29"/>
          <p:cNvSpPr txBox="1"/>
          <p:nvPr/>
        </p:nvSpPr>
        <p:spPr>
          <a:xfrm>
            <a:off x="1874125" y="1486598"/>
            <a:ext cx="5179184" cy="881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185A8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GLOBAL STATISTICS</a:t>
            </a:r>
          </a:p>
        </p:txBody>
      </p:sp>
      <p:sp>
        <p:nvSpPr>
          <p:cNvPr id="42" name="TextBox 26">
            <a:hlinkClick r:id="rId6"/>
          </p:cNvPr>
          <p:cNvSpPr txBox="1"/>
          <p:nvPr/>
        </p:nvSpPr>
        <p:spPr>
          <a:xfrm>
            <a:off x="5614915" y="9359596"/>
            <a:ext cx="7612965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Sources: World Health Organization (2023), BMC Women's Health Journal (2024), Dawn News Report (2025)</a:t>
            </a:r>
            <a:endParaRPr lang="en-US" sz="2000" b="1" dirty="0"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  <p:sp>
        <p:nvSpPr>
          <p:cNvPr id="44" name="TextBox 29"/>
          <p:cNvSpPr txBox="1"/>
          <p:nvPr/>
        </p:nvSpPr>
        <p:spPr>
          <a:xfrm>
            <a:off x="10076664" y="1449538"/>
            <a:ext cx="6146735" cy="8810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80"/>
              </a:lnSpc>
              <a:spcBef>
                <a:spcPct val="0"/>
              </a:spcBef>
            </a:pPr>
            <a:r>
              <a:rPr lang="en-US" sz="4000" b="1" dirty="0">
                <a:solidFill>
                  <a:srgbClr val="70177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NATIONAL STATISTICS</a:t>
            </a:r>
          </a:p>
        </p:txBody>
      </p:sp>
      <p:grpSp>
        <p:nvGrpSpPr>
          <p:cNvPr id="48" name="Group 47"/>
          <p:cNvGrpSpPr/>
          <p:nvPr/>
        </p:nvGrpSpPr>
        <p:grpSpPr>
          <a:xfrm>
            <a:off x="761999" y="2245424"/>
            <a:ext cx="5804518" cy="2978628"/>
            <a:chOff x="1222341" y="3425943"/>
            <a:chExt cx="5804518" cy="2978628"/>
          </a:xfrm>
        </p:grpSpPr>
        <p:pic>
          <p:nvPicPr>
            <p:cNvPr id="49" name="Picture 4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3996333">
              <a:off x="1178799" y="3469485"/>
              <a:ext cx="2978628" cy="2891543"/>
            </a:xfrm>
            <a:prstGeom prst="rect">
              <a:avLst/>
            </a:prstGeom>
          </p:spPr>
        </p:pic>
        <p:grpSp>
          <p:nvGrpSpPr>
            <p:cNvPr id="50" name="Group 5"/>
            <p:cNvGrpSpPr/>
            <p:nvPr/>
          </p:nvGrpSpPr>
          <p:grpSpPr>
            <a:xfrm>
              <a:off x="3570190" y="4718084"/>
              <a:ext cx="549081" cy="138216"/>
              <a:chOff x="0" y="-3"/>
              <a:chExt cx="895333" cy="218785"/>
            </a:xfrm>
          </p:grpSpPr>
          <p:sp>
            <p:nvSpPr>
              <p:cNvPr id="52" name="AutoShape 6"/>
              <p:cNvSpPr/>
              <p:nvPr/>
            </p:nvSpPr>
            <p:spPr>
              <a:xfrm flipV="1">
                <a:off x="112278" y="106382"/>
                <a:ext cx="678266" cy="3006"/>
              </a:xfrm>
              <a:prstGeom prst="line">
                <a:avLst/>
              </a:prstGeom>
              <a:ln w="19050" cap="rnd">
                <a:solidFill>
                  <a:srgbClr val="185A80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53" name="Group 7"/>
              <p:cNvGrpSpPr/>
              <p:nvPr/>
            </p:nvGrpSpPr>
            <p:grpSpPr>
              <a:xfrm>
                <a:off x="0" y="0"/>
                <a:ext cx="218782" cy="218782"/>
                <a:chOff x="0" y="0"/>
                <a:chExt cx="812800" cy="812800"/>
              </a:xfrm>
            </p:grpSpPr>
            <p:sp>
              <p:nvSpPr>
                <p:cNvPr id="57" name="Freeform 8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185A80"/>
                </a:solidFill>
              </p:spPr>
            </p:sp>
            <p:sp>
              <p:nvSpPr>
                <p:cNvPr id="58" name="TextBox 9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54" name="Group 10"/>
              <p:cNvGrpSpPr/>
              <p:nvPr/>
            </p:nvGrpSpPr>
            <p:grpSpPr>
              <a:xfrm>
                <a:off x="614920" y="-3"/>
                <a:ext cx="280413" cy="213655"/>
                <a:chOff x="76200" y="-15"/>
                <a:chExt cx="1041769" cy="793752"/>
              </a:xfrm>
            </p:grpSpPr>
            <p:sp>
              <p:nvSpPr>
                <p:cNvPr id="55" name="Freeform 11"/>
                <p:cNvSpPr/>
                <p:nvPr/>
              </p:nvSpPr>
              <p:spPr>
                <a:xfrm>
                  <a:off x="425280" y="-15"/>
                  <a:ext cx="692689" cy="7937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185A80"/>
                </a:solidFill>
              </p:spPr>
            </p:sp>
            <p:sp>
              <p:nvSpPr>
                <p:cNvPr id="56" name="TextBox 12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 dirty="0"/>
                </a:p>
              </p:txBody>
            </p:sp>
          </p:grpSp>
        </p:grpSp>
        <p:sp>
          <p:nvSpPr>
            <p:cNvPr id="51" name="TextBox 28"/>
            <p:cNvSpPr txBox="1"/>
            <p:nvPr/>
          </p:nvSpPr>
          <p:spPr>
            <a:xfrm>
              <a:off x="4123403" y="4113135"/>
              <a:ext cx="2903456" cy="9763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12"/>
                </a:lnSpc>
                <a:spcBef>
                  <a:spcPct val="0"/>
                </a:spcBef>
              </a:pPr>
              <a:r>
                <a:rPr lang="en-US" sz="5000" b="1" dirty="0">
                  <a:solidFill>
                    <a:srgbClr val="185A8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6-13%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9709553" y="2174785"/>
            <a:ext cx="4576007" cy="3001991"/>
            <a:chOff x="8871340" y="7527749"/>
            <a:chExt cx="4576007" cy="3001991"/>
          </a:xfrm>
        </p:grpSpPr>
        <p:sp>
          <p:nvSpPr>
            <p:cNvPr id="60" name="TextBox 28"/>
            <p:cNvSpPr txBox="1"/>
            <p:nvPr/>
          </p:nvSpPr>
          <p:spPr>
            <a:xfrm>
              <a:off x="11817866" y="8285580"/>
              <a:ext cx="1629481" cy="97635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712"/>
                </a:lnSpc>
                <a:spcBef>
                  <a:spcPct val="0"/>
                </a:spcBef>
              </a:pPr>
              <a:r>
                <a:rPr lang="en-US" sz="5000" b="1" dirty="0">
                  <a:solidFill>
                    <a:srgbClr val="70177E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52%</a:t>
              </a:r>
            </a:p>
          </p:txBody>
        </p:sp>
        <p:pic>
          <p:nvPicPr>
            <p:cNvPr id="61" name="Picture 13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9438820">
              <a:off x="8871340" y="7527749"/>
              <a:ext cx="2914224" cy="3001991"/>
            </a:xfrm>
            <a:prstGeom prst="rect">
              <a:avLst/>
            </a:prstGeom>
          </p:spPr>
        </p:pic>
        <p:grpSp>
          <p:nvGrpSpPr>
            <p:cNvPr id="62" name="Group 14"/>
            <p:cNvGrpSpPr/>
            <p:nvPr/>
          </p:nvGrpSpPr>
          <p:grpSpPr>
            <a:xfrm>
              <a:off x="11169008" y="8890530"/>
              <a:ext cx="574238" cy="138214"/>
              <a:chOff x="0" y="0"/>
              <a:chExt cx="936355" cy="218782"/>
            </a:xfrm>
          </p:grpSpPr>
          <p:sp>
            <p:nvSpPr>
              <p:cNvPr id="63" name="AutoShape 15"/>
              <p:cNvSpPr/>
              <p:nvPr/>
            </p:nvSpPr>
            <p:spPr>
              <a:xfrm flipV="1">
                <a:off x="109391" y="106383"/>
                <a:ext cx="683290" cy="3006"/>
              </a:xfrm>
              <a:prstGeom prst="line">
                <a:avLst/>
              </a:prstGeom>
              <a:ln w="12700" cap="rnd">
                <a:solidFill>
                  <a:srgbClr val="70177E"/>
                </a:solidFill>
                <a:prstDash val="solid"/>
                <a:headEnd type="none" w="sm" len="sm"/>
                <a:tailEnd type="none" w="sm" len="sm"/>
              </a:ln>
            </p:spPr>
          </p:sp>
          <p:grpSp>
            <p:nvGrpSpPr>
              <p:cNvPr id="64" name="Group 16"/>
              <p:cNvGrpSpPr/>
              <p:nvPr/>
            </p:nvGrpSpPr>
            <p:grpSpPr>
              <a:xfrm>
                <a:off x="0" y="0"/>
                <a:ext cx="218782" cy="218782"/>
                <a:chOff x="0" y="0"/>
                <a:chExt cx="812800" cy="812800"/>
              </a:xfrm>
            </p:grpSpPr>
            <p:sp>
              <p:nvSpPr>
                <p:cNvPr id="68" name="Freeform 17"/>
                <p:cNvSpPr/>
                <p:nvPr/>
              </p:nvSpPr>
              <p:spPr>
                <a:xfrm>
                  <a:off x="0" y="0"/>
                  <a:ext cx="812800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70177E"/>
                </a:solidFill>
              </p:spPr>
            </p:sp>
            <p:sp>
              <p:nvSpPr>
                <p:cNvPr id="69" name="TextBox 18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65" name="Group 19"/>
              <p:cNvGrpSpPr/>
              <p:nvPr/>
            </p:nvGrpSpPr>
            <p:grpSpPr>
              <a:xfrm>
                <a:off x="614920" y="0"/>
                <a:ext cx="321435" cy="218782"/>
                <a:chOff x="76200" y="0"/>
                <a:chExt cx="1194166" cy="812800"/>
              </a:xfrm>
            </p:grpSpPr>
            <p:sp>
              <p:nvSpPr>
                <p:cNvPr id="66" name="Freeform 20"/>
                <p:cNvSpPr/>
                <p:nvPr/>
              </p:nvSpPr>
              <p:spPr>
                <a:xfrm>
                  <a:off x="457568" y="0"/>
                  <a:ext cx="812798" cy="812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12800" h="812800">
                      <a:moveTo>
                        <a:pt x="406400" y="0"/>
                      </a:moveTo>
                      <a:cubicBezTo>
                        <a:pt x="181951" y="0"/>
                        <a:pt x="0" y="181951"/>
                        <a:pt x="0" y="406400"/>
                      </a:cubicBezTo>
                      <a:cubicBezTo>
                        <a:pt x="0" y="630849"/>
                        <a:pt x="181951" y="812800"/>
                        <a:pt x="406400" y="812800"/>
                      </a:cubicBezTo>
                      <a:cubicBezTo>
                        <a:pt x="630849" y="812800"/>
                        <a:pt x="812800" y="630849"/>
                        <a:pt x="812800" y="406400"/>
                      </a:cubicBezTo>
                      <a:cubicBezTo>
                        <a:pt x="812800" y="181951"/>
                        <a:pt x="630849" y="0"/>
                        <a:pt x="406400" y="0"/>
                      </a:cubicBezTo>
                      <a:close/>
                    </a:path>
                  </a:pathLst>
                </a:custGeom>
                <a:solidFill>
                  <a:srgbClr val="70177E"/>
                </a:solidFill>
              </p:spPr>
            </p:sp>
            <p:sp>
              <p:nvSpPr>
                <p:cNvPr id="67" name="TextBox 21"/>
                <p:cNvSpPr txBox="1"/>
                <p:nvPr/>
              </p:nvSpPr>
              <p:spPr>
                <a:xfrm>
                  <a:off x="76200" y="38100"/>
                  <a:ext cx="660400" cy="6985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</p:grpSp>
      <p:grpSp>
        <p:nvGrpSpPr>
          <p:cNvPr id="70" name="Group 69"/>
          <p:cNvGrpSpPr/>
          <p:nvPr/>
        </p:nvGrpSpPr>
        <p:grpSpPr>
          <a:xfrm>
            <a:off x="769035" y="5155381"/>
            <a:ext cx="8336415" cy="2351437"/>
            <a:chOff x="10248763" y="2793011"/>
            <a:chExt cx="8133121" cy="2623942"/>
          </a:xfrm>
        </p:grpSpPr>
        <p:pic>
          <p:nvPicPr>
            <p:cNvPr id="71" name="Picture 22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248763" y="2793011"/>
              <a:ext cx="6172200" cy="1954530"/>
            </a:xfrm>
            <a:prstGeom prst="rect">
              <a:avLst/>
            </a:prstGeom>
          </p:spPr>
        </p:pic>
        <p:sp>
          <p:nvSpPr>
            <p:cNvPr id="72" name="TextBox 30"/>
            <p:cNvSpPr txBox="1"/>
            <p:nvPr/>
          </p:nvSpPr>
          <p:spPr>
            <a:xfrm>
              <a:off x="10790581" y="4112794"/>
              <a:ext cx="7591303" cy="1304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0691"/>
                </a:lnSpc>
                <a:spcBef>
                  <a:spcPct val="0"/>
                </a:spcBef>
              </a:pPr>
              <a:r>
                <a:rPr lang="en-US" sz="5000" b="1" dirty="0">
                  <a:solidFill>
                    <a:srgbClr val="185A8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70% UNDIAGNOSED </a:t>
              </a:r>
            </a:p>
          </p:txBody>
        </p:sp>
      </p:grpSp>
      <p:sp>
        <p:nvSpPr>
          <p:cNvPr id="73" name="TextBox 26"/>
          <p:cNvSpPr txBox="1"/>
          <p:nvPr/>
        </p:nvSpPr>
        <p:spPr>
          <a:xfrm>
            <a:off x="3690939" y="4006712"/>
            <a:ext cx="4843461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600" b="1" dirty="0">
                <a:solidFill>
                  <a:srgbClr val="185A8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116M (3.4% of total female population)</a:t>
            </a:r>
          </a:p>
        </p:txBody>
      </p:sp>
      <p:grpSp>
        <p:nvGrpSpPr>
          <p:cNvPr id="74" name="Group 73"/>
          <p:cNvGrpSpPr/>
          <p:nvPr/>
        </p:nvGrpSpPr>
        <p:grpSpPr>
          <a:xfrm>
            <a:off x="10018916" y="5337280"/>
            <a:ext cx="7202283" cy="2437518"/>
            <a:chOff x="10689273" y="5591397"/>
            <a:chExt cx="6736156" cy="2931522"/>
          </a:xfrm>
        </p:grpSpPr>
        <p:sp>
          <p:nvSpPr>
            <p:cNvPr id="75" name="TextBox 32"/>
            <p:cNvSpPr txBox="1"/>
            <p:nvPr/>
          </p:nvSpPr>
          <p:spPr>
            <a:xfrm>
              <a:off x="10790582" y="6872655"/>
              <a:ext cx="6634847" cy="1650264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10691"/>
                </a:lnSpc>
                <a:spcBef>
                  <a:spcPct val="0"/>
                </a:spcBef>
              </a:pPr>
              <a:r>
                <a:rPr lang="en-US" sz="5000" b="1" dirty="0">
                  <a:solidFill>
                    <a:srgbClr val="70177E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80% UNDIAGNOSED </a:t>
              </a:r>
            </a:p>
          </p:txBody>
        </p:sp>
        <p:pic>
          <p:nvPicPr>
            <p:cNvPr id="76" name="Picture 75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0689273" y="5591397"/>
              <a:ext cx="5441225" cy="1450992"/>
            </a:xfrm>
            <a:prstGeom prst="rect">
              <a:avLst/>
            </a:prstGeom>
          </p:spPr>
        </p:pic>
      </p:grpSp>
      <p:sp>
        <p:nvSpPr>
          <p:cNvPr id="77" name="TextBox 26"/>
          <p:cNvSpPr txBox="1"/>
          <p:nvPr/>
        </p:nvSpPr>
        <p:spPr>
          <a:xfrm>
            <a:off x="12616426" y="3941429"/>
            <a:ext cx="4962704" cy="110799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3600" b="1" dirty="0">
                <a:solidFill>
                  <a:srgbClr val="70177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18.36M (15.6% of all women in Pakistan)</a:t>
            </a:r>
          </a:p>
        </p:txBody>
      </p:sp>
    </p:spTree>
    <p:extLst>
      <p:ext uri="{BB962C8B-B14F-4D97-AF65-F5344CB8AC3E}">
        <p14:creationId xmlns:p14="http://schemas.microsoft.com/office/powerpoint/2010/main" val="4156313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2818459">
            <a:off x="-909214" y="-1028700"/>
            <a:ext cx="3875828" cy="4114800"/>
          </a:xfrm>
          <a:custGeom>
            <a:avLst/>
            <a:gdLst/>
            <a:ahLst/>
            <a:cxnLst/>
            <a:rect l="l" t="t" r="r" b="b"/>
            <a:pathLst>
              <a:path w="3875828" h="4114800">
                <a:moveTo>
                  <a:pt x="0" y="0"/>
                </a:moveTo>
                <a:lnTo>
                  <a:pt x="3875828" y="0"/>
                </a:lnTo>
                <a:lnTo>
                  <a:pt x="387582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165" y="6070667"/>
            <a:ext cx="5194595" cy="1766223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52333" y="632803"/>
            <a:ext cx="11010900" cy="12824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019"/>
              </a:lnSpc>
              <a:spcBef>
                <a:spcPct val="0"/>
              </a:spcBef>
            </a:pPr>
            <a:r>
              <a:rPr lang="en-US" sz="7156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The Hidden Toll of PCOS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152" y="7432274"/>
            <a:ext cx="2153377" cy="953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6"/>
              </a:lnSpc>
              <a:spcBef>
                <a:spcPct val="0"/>
              </a:spcBef>
            </a:pPr>
            <a:r>
              <a:rPr lang="en-US" sz="6000" b="1" dirty="0">
                <a:solidFill>
                  <a:srgbClr val="330F6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44%</a:t>
            </a:r>
          </a:p>
        </p:txBody>
      </p:sp>
      <p:sp>
        <p:nvSpPr>
          <p:cNvPr id="8" name="Freeform 8"/>
          <p:cNvSpPr/>
          <p:nvPr/>
        </p:nvSpPr>
        <p:spPr>
          <a:xfrm>
            <a:off x="6835700" y="3900137"/>
            <a:ext cx="4297563" cy="4405762"/>
          </a:xfrm>
          <a:custGeom>
            <a:avLst/>
            <a:gdLst/>
            <a:ahLst/>
            <a:cxnLst/>
            <a:rect l="l" t="t" r="r" b="b"/>
            <a:pathLst>
              <a:path w="6713311" h="6713311">
                <a:moveTo>
                  <a:pt x="0" y="0"/>
                </a:moveTo>
                <a:lnTo>
                  <a:pt x="6713310" y="0"/>
                </a:lnTo>
                <a:lnTo>
                  <a:pt x="6713310" y="6713311"/>
                </a:lnTo>
                <a:lnTo>
                  <a:pt x="0" y="671331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11059" y="8197249"/>
            <a:ext cx="2260144" cy="377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  <a:spcBef>
                <a:spcPct val="0"/>
              </a:spcBef>
            </a:pPr>
            <a:r>
              <a:rPr lang="en-US" sz="2662" b="1" dirty="0">
                <a:solidFill>
                  <a:srgbClr val="0077B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Infertility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003191" y="3032606"/>
            <a:ext cx="2260144" cy="782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  <a:spcBef>
                <a:spcPct val="0"/>
              </a:spcBef>
            </a:pPr>
            <a:r>
              <a:rPr lang="en-US" sz="2662" b="1" dirty="0">
                <a:solidFill>
                  <a:srgbClr val="0077B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Weight gain</a:t>
            </a:r>
          </a:p>
          <a:p>
            <a:pPr algn="l">
              <a:lnSpc>
                <a:spcPts val="3727"/>
              </a:lnSpc>
              <a:spcBef>
                <a:spcPct val="0"/>
              </a:spcBef>
            </a:pPr>
            <a:r>
              <a:rPr lang="en-US" sz="2662" b="1" dirty="0">
                <a:solidFill>
                  <a:srgbClr val="0077B6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Hair Loss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39414" y="7594140"/>
            <a:ext cx="2260145" cy="118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662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Irregular</a:t>
            </a:r>
          </a:p>
          <a:p>
            <a:pPr algn="l">
              <a:lnSpc>
                <a:spcPts val="3727"/>
              </a:lnSpc>
            </a:pPr>
            <a:r>
              <a:rPr lang="en-US" sz="2662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Menstrual</a:t>
            </a:r>
          </a:p>
          <a:p>
            <a:pPr algn="l">
              <a:lnSpc>
                <a:spcPts val="3727"/>
              </a:lnSpc>
              <a:spcBef>
                <a:spcPct val="0"/>
              </a:spcBef>
            </a:pPr>
            <a:r>
              <a:rPr lang="en-US" sz="2662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Cycle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773185" y="3038335"/>
            <a:ext cx="1815815" cy="11879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7"/>
              </a:lnSpc>
            </a:pPr>
            <a:r>
              <a:rPr lang="en-US" sz="2662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Hirsutism/</a:t>
            </a:r>
          </a:p>
          <a:p>
            <a:pPr algn="l">
              <a:lnSpc>
                <a:spcPts val="3727"/>
              </a:lnSpc>
            </a:pPr>
            <a:r>
              <a:rPr lang="en-US" sz="2662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Acne/</a:t>
            </a:r>
          </a:p>
          <a:p>
            <a:pPr algn="l">
              <a:lnSpc>
                <a:spcPts val="3727"/>
              </a:lnSpc>
              <a:spcBef>
                <a:spcPct val="0"/>
              </a:spcBef>
            </a:pPr>
            <a:r>
              <a:rPr lang="en-US" sz="2662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Mood swings</a:t>
            </a:r>
          </a:p>
        </p:txBody>
      </p:sp>
      <p:sp>
        <p:nvSpPr>
          <p:cNvPr id="21" name="TextBox 11"/>
          <p:cNvSpPr txBox="1"/>
          <p:nvPr/>
        </p:nvSpPr>
        <p:spPr>
          <a:xfrm>
            <a:off x="693987" y="8304567"/>
            <a:ext cx="4528063" cy="948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727"/>
              </a:lnSpc>
            </a:pPr>
            <a:r>
              <a:rPr lang="en-US" sz="2400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Of women with PCOS are unaware(</a:t>
            </a:r>
            <a:r>
              <a:rPr lang="en-US" sz="2400" b="1" i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Donna Report</a:t>
            </a:r>
            <a:r>
              <a:rPr lang="en-US" sz="2400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653640" y="7163229"/>
            <a:ext cx="5090704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34"/>
              </a:lnSpc>
              <a:spcBef>
                <a:spcPct val="0"/>
              </a:spcBef>
            </a:pPr>
            <a:r>
              <a:rPr lang="en-US" sz="3024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#1 cause of </a:t>
            </a:r>
            <a:r>
              <a:rPr lang="en-US" sz="3024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  <a:hlinkClick r:id="rId7"/>
              </a:rPr>
              <a:t>infertility</a:t>
            </a:r>
            <a:r>
              <a:rPr lang="en-US" sz="3024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in Pakistan (4/10 cases) </a:t>
            </a:r>
            <a:r>
              <a:rPr lang="en-US" sz="3024" b="1" dirty="0" smtClean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(NIH,2023</a:t>
            </a:r>
            <a:r>
              <a:rPr lang="en-US" sz="3024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)</a:t>
            </a:r>
          </a:p>
        </p:txBody>
      </p:sp>
      <p:sp>
        <p:nvSpPr>
          <p:cNvPr id="15" name="TextBox 15">
            <a:hlinkClick r:id="rId8"/>
          </p:cNvPr>
          <p:cNvSpPr txBox="1"/>
          <p:nvPr/>
        </p:nvSpPr>
        <p:spPr>
          <a:xfrm>
            <a:off x="12653640" y="3635985"/>
            <a:ext cx="5247070" cy="1615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34"/>
              </a:lnSpc>
              <a:spcBef>
                <a:spcPct val="0"/>
              </a:spcBef>
            </a:pPr>
            <a:r>
              <a:rPr lang="en-US" sz="3000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&gt;50% develop </a:t>
            </a:r>
            <a:r>
              <a:rPr lang="en-US" sz="3000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  <a:hlinkClick r:id="rId8"/>
              </a:rPr>
              <a:t>type II diabetes </a:t>
            </a:r>
            <a:r>
              <a:rPr lang="en-US" sz="3000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by age of 40(NIH,2022)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626426" y="5694014"/>
            <a:ext cx="5507690" cy="10270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34"/>
              </a:lnSpc>
              <a:spcBef>
                <a:spcPct val="0"/>
              </a:spcBef>
            </a:pPr>
            <a:r>
              <a:rPr lang="en-US" sz="3024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4x higher risk of </a:t>
            </a:r>
            <a:r>
              <a:rPr lang="en-US" sz="3024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  <a:hlinkClick r:id="rId9"/>
              </a:rPr>
              <a:t>endometrial cancer </a:t>
            </a:r>
            <a:r>
              <a:rPr lang="en-US" sz="3024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(ACOG,2023) </a:t>
            </a:r>
          </a:p>
        </p:txBody>
      </p:sp>
      <p:sp>
        <p:nvSpPr>
          <p:cNvPr id="17" name="TextBox 15"/>
          <p:cNvSpPr txBox="1"/>
          <p:nvPr/>
        </p:nvSpPr>
        <p:spPr>
          <a:xfrm>
            <a:off x="7349576" y="9272595"/>
            <a:ext cx="3269810" cy="538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234"/>
              </a:lnSpc>
              <a:spcBef>
                <a:spcPct val="0"/>
              </a:spcBef>
            </a:pP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(Sources: NIH, WHO, </a:t>
            </a:r>
            <a:r>
              <a:rPr lang="en-US" sz="20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ACOG)</a:t>
            </a:r>
            <a:endParaRPr lang="en-US" sz="2000" b="1" dirty="0">
              <a:solidFill>
                <a:srgbClr val="000000"/>
              </a:solidFill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  <p:sp>
        <p:nvSpPr>
          <p:cNvPr id="18" name="TextBox 6"/>
          <p:cNvSpPr txBox="1"/>
          <p:nvPr/>
        </p:nvSpPr>
        <p:spPr>
          <a:xfrm>
            <a:off x="12653640" y="2006684"/>
            <a:ext cx="5247071" cy="10259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986"/>
              </a:lnSpc>
              <a:spcBef>
                <a:spcPct val="0"/>
              </a:spcBef>
            </a:pPr>
            <a:r>
              <a:rPr lang="en-US" sz="3600" b="1" u="sng" dirty="0">
                <a:solidFill>
                  <a:srgbClr val="330F67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Long Term Health Risks</a:t>
            </a:r>
          </a:p>
        </p:txBody>
      </p:sp>
      <p:sp>
        <p:nvSpPr>
          <p:cNvPr id="20" name="TextBox 6"/>
          <p:cNvSpPr txBox="1"/>
          <p:nvPr/>
        </p:nvSpPr>
        <p:spPr>
          <a:xfrm>
            <a:off x="596914" y="2457487"/>
            <a:ext cx="4465230" cy="36933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000" i="1" dirty="0">
                <a:latin typeface="Be Vietnam Ultra-Bold" panose="020B0604020202020204" charset="0"/>
                <a:cs typeface="Times New Roman" panose="02020603050405020304" pitchFamily="18" charset="0"/>
              </a:rPr>
              <a:t>Undiagnosed PCOS isn’t just a </a:t>
            </a:r>
            <a:r>
              <a:rPr lang="en-US" sz="3000" dirty="0">
                <a:solidFill>
                  <a:srgbClr val="000000"/>
                </a:solidFill>
                <a:latin typeface="Be Vietnam Ultra-Bold" panose="020B0604020202020204" charset="0"/>
                <a:ea typeface="Be Vietnam Ultra-Bold"/>
                <a:cs typeface="Be Vietnam Ultra-Bold"/>
              </a:rPr>
              <a:t>hormonal</a:t>
            </a:r>
            <a:r>
              <a:rPr lang="en-US" sz="3000" i="1" dirty="0">
                <a:latin typeface="Be Vietnam Ultra-Bold" panose="020B0604020202020204" charset="0"/>
                <a:cs typeface="Times New Roman" panose="02020603050405020304" pitchFamily="18" charset="0"/>
              </a:rPr>
              <a:t> issue—it’s a metabolic time </a:t>
            </a:r>
            <a:r>
              <a:rPr lang="en-US" sz="3000" dirty="0">
                <a:solidFill>
                  <a:srgbClr val="000000"/>
                </a:solidFill>
                <a:latin typeface="Be Vietnam Ultra-Bold" panose="020B0604020202020204" charset="0"/>
                <a:ea typeface="Be Vietnam Ultra-Bold"/>
                <a:cs typeface="Be Vietnam Ultra-Bold"/>
              </a:rPr>
              <a:t>bomb</a:t>
            </a:r>
            <a:r>
              <a:rPr lang="en-US" sz="3000" i="1" dirty="0">
                <a:latin typeface="Be Vietnam Ultra-Bold" panose="020B0604020202020204" charset="0"/>
                <a:cs typeface="Times New Roman" panose="02020603050405020304" pitchFamily="18" charset="0"/>
              </a:rPr>
              <a:t>. Early intervention could prevent billions in downstream healthcare costs.</a:t>
            </a:r>
            <a:endParaRPr lang="en-US" sz="3000" u="sng" dirty="0">
              <a:solidFill>
                <a:srgbClr val="330F67"/>
              </a:solidFill>
              <a:latin typeface="Be Vietnam Ultra-Bold" panose="020B0604020202020204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87006" y="4315400"/>
            <a:ext cx="5735985" cy="5971600"/>
          </a:xfrm>
          <a:custGeom>
            <a:avLst/>
            <a:gdLst/>
            <a:ahLst/>
            <a:cxnLst/>
            <a:rect l="l" t="t" r="r" b="b"/>
            <a:pathLst>
              <a:path w="4684278" h="4899710">
                <a:moveTo>
                  <a:pt x="0" y="0"/>
                </a:moveTo>
                <a:lnTo>
                  <a:pt x="4684277" y="0"/>
                </a:lnTo>
                <a:lnTo>
                  <a:pt x="4684277" y="4899710"/>
                </a:lnTo>
                <a:lnTo>
                  <a:pt x="0" y="48997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6072849" y="1249238"/>
            <a:ext cx="2005240" cy="2649051"/>
          </a:xfrm>
          <a:custGeom>
            <a:avLst/>
            <a:gdLst/>
            <a:ahLst/>
            <a:cxnLst/>
            <a:rect l="l" t="t" r="r" b="b"/>
            <a:pathLst>
              <a:path w="2127875" h="2867720">
                <a:moveTo>
                  <a:pt x="0" y="0"/>
                </a:moveTo>
                <a:lnTo>
                  <a:pt x="2127874" y="0"/>
                </a:lnTo>
                <a:lnTo>
                  <a:pt x="2127874" y="2867720"/>
                </a:lnTo>
                <a:lnTo>
                  <a:pt x="0" y="286772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734367" y="217091"/>
            <a:ext cx="12819263" cy="1358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6"/>
              </a:lnSpc>
              <a:spcBef>
                <a:spcPct val="0"/>
              </a:spcBef>
            </a:pPr>
            <a:r>
              <a:rPr lang="en-US" sz="8033" b="1" dirty="0">
                <a:solidFill>
                  <a:srgbClr val="B20F4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THE SOLUTION - FEMCURE</a:t>
            </a:r>
          </a:p>
        </p:txBody>
      </p:sp>
      <p:grpSp>
        <p:nvGrpSpPr>
          <p:cNvPr id="15" name="Group 14"/>
          <p:cNvGrpSpPr/>
          <p:nvPr/>
        </p:nvGrpSpPr>
        <p:grpSpPr>
          <a:xfrm>
            <a:off x="445069" y="2163788"/>
            <a:ext cx="6880283" cy="6968979"/>
            <a:chOff x="1155113" y="2812719"/>
            <a:chExt cx="6880283" cy="6968979"/>
          </a:xfrm>
        </p:grpSpPr>
        <p:sp>
          <p:nvSpPr>
            <p:cNvPr id="3" name="Freeform 3"/>
            <p:cNvSpPr/>
            <p:nvPr/>
          </p:nvSpPr>
          <p:spPr>
            <a:xfrm>
              <a:off x="1155113" y="2812719"/>
              <a:ext cx="6880283" cy="6968979"/>
            </a:xfrm>
            <a:custGeom>
              <a:avLst/>
              <a:gdLst/>
              <a:ahLst/>
              <a:cxnLst/>
              <a:rect l="l" t="t" r="r" b="b"/>
              <a:pathLst>
                <a:path w="6880283" h="6968979">
                  <a:moveTo>
                    <a:pt x="0" y="0"/>
                  </a:moveTo>
                  <a:lnTo>
                    <a:pt x="6880283" y="0"/>
                  </a:lnTo>
                  <a:lnTo>
                    <a:pt x="6880283" y="6968979"/>
                  </a:lnTo>
                  <a:lnTo>
                    <a:pt x="0" y="69689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TextBox 8"/>
            <p:cNvSpPr txBox="1"/>
            <p:nvPr/>
          </p:nvSpPr>
          <p:spPr>
            <a:xfrm>
              <a:off x="1674332" y="4803444"/>
              <a:ext cx="4030340" cy="1282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Preventive Care </a:t>
              </a:r>
            </a:p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Tools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24167" y="8272875"/>
              <a:ext cx="4530670" cy="1251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Awareness &amp; Symptoms Tracking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20505" y="2952326"/>
              <a:ext cx="4651572" cy="128240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AI-powered PCOS Prediction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331121" y="6421161"/>
              <a:ext cx="4030340" cy="12516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 b="1" dirty="0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Experts</a:t>
              </a:r>
            </a:p>
            <a:p>
              <a:pPr algn="ctr">
                <a:lnSpc>
                  <a:spcPts val="5040"/>
                </a:lnSpc>
                <a:spcBef>
                  <a:spcPct val="0"/>
                </a:spcBef>
              </a:pPr>
              <a:r>
                <a:rPr lang="en-US" sz="3600" b="1" dirty="0">
                  <a:solidFill>
                    <a:srgbClr val="FFFFFF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Consultation</a:t>
              </a: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844571" y="2053243"/>
            <a:ext cx="5742435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DD36F7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Identifies high-risk women 3-5 years before severe symptoms arises</a:t>
            </a:r>
          </a:p>
        </p:txBody>
      </p:sp>
      <p:sp>
        <p:nvSpPr>
          <p:cNvPr id="16" name="TextBox 12"/>
          <p:cNvSpPr txBox="1"/>
          <p:nvPr/>
        </p:nvSpPr>
        <p:spPr>
          <a:xfrm>
            <a:off x="7844570" y="4380362"/>
            <a:ext cx="5681117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F7D29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Personalized lifestyle plans(diets/exercise)</a:t>
            </a:r>
          </a:p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F7D29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Progress monitoring</a:t>
            </a:r>
          </a:p>
        </p:txBody>
      </p:sp>
      <p:sp>
        <p:nvSpPr>
          <p:cNvPr id="18" name="TextBox 12"/>
          <p:cNvSpPr txBox="1"/>
          <p:nvPr/>
        </p:nvSpPr>
        <p:spPr>
          <a:xfrm>
            <a:off x="7905888" y="6707481"/>
            <a:ext cx="5619800" cy="24381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  <a:spcBef>
                <a:spcPct val="0"/>
              </a:spcBef>
            </a:pPr>
            <a:r>
              <a:rPr lang="en-US" sz="3399" dirty="0">
                <a:solidFill>
                  <a:srgbClr val="FFC208"/>
                </a:solidFill>
                <a:latin typeface="Magnolia Script"/>
                <a:ea typeface="Magnolia Script"/>
                <a:cs typeface="Magnolia Script"/>
                <a:sym typeface="Magnolia Script"/>
              </a:rPr>
              <a:t>Transforming 44% unaware women into empowered women – stopping PCOS before it starts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798911" y="-62662"/>
            <a:ext cx="968733" cy="1814957"/>
          </a:xfrm>
          <a:custGeom>
            <a:avLst/>
            <a:gdLst/>
            <a:ahLst/>
            <a:cxnLst/>
            <a:rect l="l" t="t" r="r" b="b"/>
            <a:pathLst>
              <a:path w="968733" h="1814957">
                <a:moveTo>
                  <a:pt x="0" y="0"/>
                </a:moveTo>
                <a:lnTo>
                  <a:pt x="968734" y="0"/>
                </a:lnTo>
                <a:lnTo>
                  <a:pt x="968734" y="1814957"/>
                </a:lnTo>
                <a:lnTo>
                  <a:pt x="0" y="181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6744" y="4992468"/>
            <a:ext cx="8238256" cy="4825552"/>
          </a:xfrm>
          <a:custGeom>
            <a:avLst/>
            <a:gdLst/>
            <a:ahLst/>
            <a:cxnLst/>
            <a:rect l="l" t="t" r="r" b="b"/>
            <a:pathLst>
              <a:path w="7752468" h="6067581">
                <a:moveTo>
                  <a:pt x="0" y="0"/>
                </a:moveTo>
                <a:lnTo>
                  <a:pt x="7752468" y="0"/>
                </a:lnTo>
                <a:lnTo>
                  <a:pt x="7752468" y="6067581"/>
                </a:lnTo>
                <a:lnTo>
                  <a:pt x="0" y="60675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543" b="-654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867400" y="10666"/>
            <a:ext cx="5562600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382"/>
              </a:lnSpc>
              <a:spcBef>
                <a:spcPct val="0"/>
              </a:spcBef>
            </a:pPr>
            <a:r>
              <a:rPr lang="en-US" sz="7000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VALIDATION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86744" y="1846659"/>
            <a:ext cx="5340077" cy="10900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57"/>
              </a:lnSpc>
            </a:pPr>
            <a:r>
              <a:rPr lang="en-US" sz="4000" dirty="0">
                <a:solidFill>
                  <a:srgbClr val="1B9CE7"/>
                </a:solidFill>
                <a:latin typeface="Be Vietnam Ultra-Bold" panose="020B0604020202020204" charset="0"/>
                <a:ea typeface="Lovelo"/>
                <a:cs typeface="Lovelo"/>
                <a:sym typeface="Lovelo"/>
              </a:rPr>
              <a:t>CLINICAL PROTOTYPE</a:t>
            </a:r>
          </a:p>
        </p:txBody>
      </p:sp>
      <p:sp>
        <p:nvSpPr>
          <p:cNvPr id="14" name="TextBox 24"/>
          <p:cNvSpPr txBox="1"/>
          <p:nvPr/>
        </p:nvSpPr>
        <p:spPr>
          <a:xfrm>
            <a:off x="1372122" y="3069779"/>
            <a:ext cx="5254699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with Dr.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Ramsha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Haider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Dr.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Aniqa</a:t>
            </a: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Dilawari</a:t>
            </a:r>
            <a:endParaRPr lang="en-US" sz="3000" b="1" dirty="0"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  <p:sp>
        <p:nvSpPr>
          <p:cNvPr id="15" name="TextBox 24"/>
          <p:cNvSpPr txBox="1"/>
          <p:nvPr/>
        </p:nvSpPr>
        <p:spPr>
          <a:xfrm>
            <a:off x="1372122" y="4311029"/>
            <a:ext cx="5254699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Accuracy : 88% </a:t>
            </a:r>
            <a:endParaRPr lang="en-US" sz="3000" b="1" dirty="0"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9525000" y="1846659"/>
            <a:ext cx="7440871" cy="8869127"/>
            <a:chOff x="6656129" y="1846659"/>
            <a:chExt cx="6787026" cy="8636982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56129" y="4789861"/>
              <a:ext cx="6787026" cy="5693780"/>
            </a:xfrm>
            <a:prstGeom prst="rect">
              <a:avLst/>
            </a:prstGeom>
          </p:spPr>
        </p:pic>
        <p:sp>
          <p:nvSpPr>
            <p:cNvPr id="17" name="TextBox 10"/>
            <p:cNvSpPr txBox="1"/>
            <p:nvPr/>
          </p:nvSpPr>
          <p:spPr>
            <a:xfrm>
              <a:off x="7580899" y="1846659"/>
              <a:ext cx="4382501" cy="1090042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l">
                <a:lnSpc>
                  <a:spcPts val="8457"/>
                </a:lnSpc>
              </a:pPr>
              <a:r>
                <a:rPr lang="en-US" sz="4000" dirty="0">
                  <a:solidFill>
                    <a:srgbClr val="1B9CE7"/>
                  </a:solidFill>
                  <a:latin typeface="Be Vietnam Ultra-Bold" panose="020B0604020202020204" charset="0"/>
                  <a:ea typeface="Lovelo"/>
                  <a:cs typeface="Lovelo"/>
                  <a:sym typeface="Lovelo"/>
                </a:rPr>
                <a:t>USER VALIDATION</a:t>
              </a:r>
            </a:p>
          </p:txBody>
        </p:sp>
        <p:sp>
          <p:nvSpPr>
            <p:cNvPr id="18" name="TextBox 24"/>
            <p:cNvSpPr txBox="1"/>
            <p:nvPr/>
          </p:nvSpPr>
          <p:spPr>
            <a:xfrm>
              <a:off x="7685054" y="2845425"/>
              <a:ext cx="5220701" cy="923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spcBef>
                  <a:spcPct val="0"/>
                </a:spcBef>
              </a:pPr>
              <a:r>
                <a:rPr lang="en-US" sz="30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Surveyed 817 women in female institute.</a:t>
              </a:r>
              <a:endParaRPr lang="en-US" sz="3000" b="1" dirty="0">
                <a:latin typeface="Times New Roman" panose="02020603050405020304" pitchFamily="18" charset="0"/>
                <a:ea typeface="Be Vietnam Ultra-Bold"/>
                <a:cs typeface="Times New Roman" panose="02020603050405020304" pitchFamily="18" charset="0"/>
                <a:sym typeface="Be Vietnam Ultra-Bold"/>
              </a:endParaRPr>
            </a:p>
          </p:txBody>
        </p:sp>
        <p:sp>
          <p:nvSpPr>
            <p:cNvPr id="19" name="TextBox 24"/>
            <p:cNvSpPr txBox="1"/>
            <p:nvPr/>
          </p:nvSpPr>
          <p:spPr>
            <a:xfrm>
              <a:off x="7685053" y="3993109"/>
              <a:ext cx="5220701" cy="923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just">
                <a:spcBef>
                  <a:spcPct val="0"/>
                </a:spcBef>
              </a:pPr>
              <a:r>
                <a:rPr lang="en-US" sz="3000" b="1" dirty="0">
                  <a:latin typeface="Times New Roman" panose="02020603050405020304" pitchFamily="18" charset="0"/>
                  <a:ea typeface="Be Vietnam Ultra-Bold"/>
                  <a:cs typeface="Times New Roman" panose="02020603050405020304" pitchFamily="18" charset="0"/>
                  <a:sym typeface="Be Vietnam Ultra-Bold"/>
                </a:rPr>
                <a:t>63% reported need for such a solution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/>
          <p:cNvGrpSpPr/>
          <p:nvPr/>
        </p:nvGrpSpPr>
        <p:grpSpPr>
          <a:xfrm>
            <a:off x="1295401" y="3345059"/>
            <a:ext cx="5884100" cy="5913241"/>
            <a:chOff x="195304" y="3238731"/>
            <a:chExt cx="5163206" cy="5379261"/>
          </a:xfrm>
        </p:grpSpPr>
        <p:sp>
          <p:nvSpPr>
            <p:cNvPr id="3" name="Freeform 3"/>
            <p:cNvSpPr/>
            <p:nvPr/>
          </p:nvSpPr>
          <p:spPr>
            <a:xfrm>
              <a:off x="195304" y="3238731"/>
              <a:ext cx="5163206" cy="5379261"/>
            </a:xfrm>
            <a:custGeom>
              <a:avLst/>
              <a:gdLst/>
              <a:ahLst/>
              <a:cxnLst/>
              <a:rect l="l" t="t" r="r" b="b"/>
              <a:pathLst>
                <a:path w="6904229" h="6904229">
                  <a:moveTo>
                    <a:pt x="0" y="0"/>
                  </a:moveTo>
                  <a:lnTo>
                    <a:pt x="6904229" y="0"/>
                  </a:lnTo>
                  <a:lnTo>
                    <a:pt x="6904229" y="6904229"/>
                  </a:lnTo>
                  <a:lnTo>
                    <a:pt x="0" y="6904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>
              <a:off x="796189" y="4597493"/>
              <a:ext cx="3912116" cy="3823594"/>
            </a:xfrm>
            <a:custGeom>
              <a:avLst/>
              <a:gdLst/>
              <a:ahLst/>
              <a:cxnLst/>
              <a:rect l="l" t="t" r="r" b="b"/>
              <a:pathLst>
                <a:path w="5231274" h="5231274">
                  <a:moveTo>
                    <a:pt x="0" y="0"/>
                  </a:moveTo>
                  <a:lnTo>
                    <a:pt x="5231275" y="0"/>
                  </a:lnTo>
                  <a:lnTo>
                    <a:pt x="5231275" y="5231274"/>
                  </a:lnTo>
                  <a:lnTo>
                    <a:pt x="0" y="52312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a:blipFill>
          </p:spPr>
        </p:sp>
        <p:grpSp>
          <p:nvGrpSpPr>
            <p:cNvPr id="34" name="Group 33"/>
            <p:cNvGrpSpPr/>
            <p:nvPr/>
          </p:nvGrpSpPr>
          <p:grpSpPr>
            <a:xfrm>
              <a:off x="1518936" y="3382177"/>
              <a:ext cx="2525422" cy="4819327"/>
              <a:chOff x="1518936" y="3370293"/>
              <a:chExt cx="2525422" cy="4819327"/>
            </a:xfrm>
          </p:grpSpPr>
          <p:sp>
            <p:nvSpPr>
              <p:cNvPr id="5" name="Freeform 5"/>
              <p:cNvSpPr/>
              <p:nvPr/>
            </p:nvSpPr>
            <p:spPr>
              <a:xfrm>
                <a:off x="1518936" y="5840645"/>
                <a:ext cx="2525422" cy="2348975"/>
              </a:xfrm>
              <a:custGeom>
                <a:avLst/>
                <a:gdLst/>
                <a:ahLst/>
                <a:cxnLst/>
                <a:rect l="l" t="t" r="r" b="b"/>
                <a:pathLst>
                  <a:path w="3537539" h="3537539">
                    <a:moveTo>
                      <a:pt x="0" y="0"/>
                    </a:moveTo>
                    <a:lnTo>
                      <a:pt x="3537539" y="0"/>
                    </a:lnTo>
                    <a:lnTo>
                      <a:pt x="3537539" y="3537539"/>
                    </a:lnTo>
                    <a:lnTo>
                      <a:pt x="0" y="353753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xmlns="" r:embed="rId7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6" name="TextBox 6"/>
              <p:cNvSpPr txBox="1"/>
              <p:nvPr/>
            </p:nvSpPr>
            <p:spPr>
              <a:xfrm>
                <a:off x="1927765" y="3370293"/>
                <a:ext cx="1776504" cy="10185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8812"/>
                  </a:lnSpc>
                  <a:spcBef>
                    <a:spcPct val="0"/>
                  </a:spcBef>
                </a:pPr>
                <a:r>
                  <a:rPr lang="en-US" sz="6000" dirty="0">
                    <a:solidFill>
                      <a:srgbClr val="5F0A6C"/>
                    </a:solidFill>
                    <a:latin typeface="Be Vietnam Ultra-Bold"/>
                    <a:ea typeface="Be Vietnam Ultra-Bold"/>
                    <a:cs typeface="Be Vietnam Ultra-Bold"/>
                    <a:sym typeface="Be Vietnam Ultra-Bold"/>
                  </a:rPr>
                  <a:t>TAM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927765" y="4758544"/>
                <a:ext cx="1776504" cy="1018514"/>
              </a:xfrm>
              <a:prstGeom prst="rect">
                <a:avLst/>
              </a:prstGeom>
            </p:spPr>
            <p:txBody>
              <a:bodyPr lIns="0" tIns="0" rIns="0" bIns="0" rtlCol="0" anchor="t">
                <a:spAutoFit/>
              </a:bodyPr>
              <a:lstStyle/>
              <a:p>
                <a:pPr algn="l">
                  <a:lnSpc>
                    <a:spcPts val="8812"/>
                  </a:lnSpc>
                  <a:spcBef>
                    <a:spcPct val="0"/>
                  </a:spcBef>
                </a:pPr>
                <a:r>
                  <a:rPr lang="en-US" sz="6000" dirty="0">
                    <a:solidFill>
                      <a:srgbClr val="03045E"/>
                    </a:solidFill>
                    <a:latin typeface="Be Vietnam Ultra-Bold"/>
                    <a:ea typeface="Be Vietnam Ultra-Bold"/>
                    <a:cs typeface="Be Vietnam Ultra-Bold"/>
                    <a:sym typeface="Be Vietnam Ultra-Bold"/>
                  </a:rPr>
                  <a:t>SAM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921862" y="6064613"/>
                <a:ext cx="1782406" cy="1221494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l">
                  <a:lnSpc>
                    <a:spcPts val="8482"/>
                  </a:lnSpc>
                  <a:spcBef>
                    <a:spcPct val="0"/>
                  </a:spcBef>
                </a:pPr>
                <a:r>
                  <a:rPr lang="en-US" sz="6000" dirty="0">
                    <a:solidFill>
                      <a:srgbClr val="0070C0"/>
                    </a:solidFill>
                    <a:latin typeface="Be Vietnam Ultra-Bold"/>
                    <a:ea typeface="Be Vietnam Ultra-Bold"/>
                    <a:cs typeface="Be Vietnam Ultra-Bold"/>
                    <a:sym typeface="Be Vietnam Ultra-Bold"/>
                  </a:rPr>
                  <a:t>SOM</a:t>
                </a:r>
              </a:p>
            </p:txBody>
          </p:sp>
        </p:grpSp>
      </p:grpSp>
      <p:sp>
        <p:nvSpPr>
          <p:cNvPr id="22" name="Freeform 22"/>
          <p:cNvSpPr/>
          <p:nvPr/>
        </p:nvSpPr>
        <p:spPr>
          <a:xfrm>
            <a:off x="170644" y="8291410"/>
            <a:ext cx="1438805" cy="1705552"/>
          </a:xfrm>
          <a:custGeom>
            <a:avLst/>
            <a:gdLst/>
            <a:ahLst/>
            <a:cxnLst/>
            <a:rect l="l" t="t" r="r" b="b"/>
            <a:pathLst>
              <a:path w="3852949" h="4114800">
                <a:moveTo>
                  <a:pt x="0" y="0"/>
                </a:moveTo>
                <a:lnTo>
                  <a:pt x="3852949" y="0"/>
                </a:lnTo>
                <a:lnTo>
                  <a:pt x="38529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3" name="TextBox 23"/>
          <p:cNvSpPr txBox="1"/>
          <p:nvPr/>
        </p:nvSpPr>
        <p:spPr>
          <a:xfrm>
            <a:off x="3927862" y="-270682"/>
            <a:ext cx="11452566" cy="2436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8983"/>
              </a:lnSpc>
              <a:spcBef>
                <a:spcPct val="0"/>
              </a:spcBef>
            </a:pPr>
            <a:r>
              <a:rPr lang="en-US" sz="8000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MARKET OPPORTUNITY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721095" y="1526921"/>
            <a:ext cx="11422187" cy="8079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299"/>
              </a:lnSpc>
              <a:spcBef>
                <a:spcPct val="0"/>
              </a:spcBef>
            </a:pPr>
            <a:r>
              <a:rPr lang="en-US" sz="3600" b="1" u="sng" dirty="0">
                <a:solidFill>
                  <a:srgbClr val="5F0A6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Target</a:t>
            </a:r>
            <a:r>
              <a:rPr lang="en-US" sz="3600" b="1" dirty="0">
                <a:solidFill>
                  <a:srgbClr val="5F0A6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:Women aged </a:t>
            </a:r>
            <a:r>
              <a:rPr lang="en-US" sz="3600" b="1" dirty="0">
                <a:solidFill>
                  <a:srgbClr val="13A6A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15–45 </a:t>
            </a:r>
            <a:r>
              <a:rPr lang="en-US" sz="3600" b="1" dirty="0">
                <a:solidFill>
                  <a:srgbClr val="5F0A6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in Pakistan (34M total)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50966" y="3345058"/>
            <a:ext cx="3428124" cy="1586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16"/>
              </a:lnSpc>
              <a:spcBef>
                <a:spcPct val="0"/>
              </a:spcBef>
            </a:pPr>
            <a:r>
              <a:rPr lang="en-US" sz="9011" b="1" dirty="0">
                <a:solidFill>
                  <a:srgbClr val="5F0A6C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34M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385915" y="4918360"/>
            <a:ext cx="3428124" cy="1593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616"/>
              </a:lnSpc>
              <a:spcBef>
                <a:spcPct val="0"/>
              </a:spcBef>
            </a:pPr>
            <a:r>
              <a:rPr lang="en-US" sz="9011" b="1" dirty="0">
                <a:solidFill>
                  <a:srgbClr val="03045E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8M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162801" y="6555802"/>
            <a:ext cx="3874352" cy="1589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2616"/>
              </a:lnSpc>
              <a:spcBef>
                <a:spcPct val="0"/>
              </a:spcBef>
            </a:pPr>
            <a:r>
              <a:rPr lang="en-US" sz="9011" b="1" dirty="0">
                <a:solidFill>
                  <a:srgbClr val="0070C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120k</a:t>
            </a:r>
          </a:p>
        </p:txBody>
      </p:sp>
      <p:sp>
        <p:nvSpPr>
          <p:cNvPr id="32" name="TextBox 24"/>
          <p:cNvSpPr txBox="1"/>
          <p:nvPr/>
        </p:nvSpPr>
        <p:spPr>
          <a:xfrm>
            <a:off x="10134601" y="3469629"/>
            <a:ext cx="61722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4000" b="1" dirty="0">
                <a:solidFill>
                  <a:srgbClr val="70177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women aged 15–45 in Pakistan</a:t>
            </a:r>
            <a:endParaRPr lang="en-US" sz="4000" b="1" dirty="0">
              <a:solidFill>
                <a:srgbClr val="70177E"/>
              </a:solidFill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  <p:sp>
        <p:nvSpPr>
          <p:cNvPr id="33" name="TextBox 24"/>
          <p:cNvSpPr txBox="1"/>
          <p:nvPr/>
        </p:nvSpPr>
        <p:spPr>
          <a:xfrm>
            <a:off x="10134601" y="4831619"/>
            <a:ext cx="6172200" cy="1846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4000" b="1" dirty="0">
                <a:solidFill>
                  <a:srgbClr val="03045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Women with access to smartphones/internet in urban &amp; semi-urban areas</a:t>
            </a:r>
            <a:endParaRPr lang="en-US" sz="4000" b="1" dirty="0">
              <a:solidFill>
                <a:srgbClr val="03045E"/>
              </a:solidFill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  <p:sp>
        <p:nvSpPr>
          <p:cNvPr id="36" name="TextBox 24"/>
          <p:cNvSpPr txBox="1"/>
          <p:nvPr/>
        </p:nvSpPr>
        <p:spPr>
          <a:xfrm>
            <a:off x="10134600" y="6807357"/>
            <a:ext cx="6172201" cy="18466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spcBef>
                <a:spcPct val="0"/>
              </a:spcBef>
            </a:pPr>
            <a:r>
              <a:rPr lang="en-US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Initial reachable market (urban students, working women)</a:t>
            </a:r>
            <a:endParaRPr lang="en-US" sz="4000" b="1" dirty="0">
              <a:solidFill>
                <a:srgbClr val="0070C0"/>
              </a:solidFill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  <p:sp>
        <p:nvSpPr>
          <p:cNvPr id="39" name="TextBox 24"/>
          <p:cNvSpPr txBox="1"/>
          <p:nvPr/>
        </p:nvSpPr>
        <p:spPr>
          <a:xfrm>
            <a:off x="6556705" y="9561834"/>
            <a:ext cx="5086543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Source: </a:t>
            </a:r>
            <a:r>
              <a:rPr lang="en-US" sz="20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(Pakistan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Bureau of Statistics, 2023)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b="1" dirty="0">
              <a:solidFill>
                <a:srgbClr val="70177E"/>
              </a:solidFill>
              <a:latin typeface="Times New Roman" panose="02020603050405020304" pitchFamily="18" charset="0"/>
              <a:ea typeface="Be Vietnam Ultra-Bold"/>
              <a:cs typeface="Times New Roman" panose="02020603050405020304" pitchFamily="18" charset="0"/>
              <a:sym typeface="Be Vietnam Ultra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l="-39423" t="-15717" b="-4952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725400" y="3255183"/>
            <a:ext cx="3947830" cy="4250517"/>
          </a:xfrm>
          <a:custGeom>
            <a:avLst/>
            <a:gdLst/>
            <a:ahLst/>
            <a:cxnLst/>
            <a:rect l="l" t="t" r="r" b="b"/>
            <a:pathLst>
              <a:path w="6085958" h="4734875">
                <a:moveTo>
                  <a:pt x="0" y="0"/>
                </a:moveTo>
                <a:lnTo>
                  <a:pt x="6085958" y="0"/>
                </a:lnTo>
                <a:lnTo>
                  <a:pt x="6085958" y="4734876"/>
                </a:lnTo>
                <a:lnTo>
                  <a:pt x="0" y="47348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133600" y="2460093"/>
            <a:ext cx="11778193" cy="15901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6169"/>
              </a:lnSpc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55.86</a:t>
            </a:r>
            <a:r>
              <a:rPr lang="en-US" sz="4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(2024)→130.80B by 2034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4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(8.88% CAGR)</a:t>
            </a:r>
          </a:p>
          <a:p>
            <a:pPr algn="just">
              <a:lnSpc>
                <a:spcPts val="6169"/>
              </a:lnSpc>
            </a:pPr>
            <a:r>
              <a:rPr lang="en-US" sz="4000" i="1" dirty="0">
                <a:latin typeface="Times New Roman" panose="02020603050405020304" pitchFamily="18" charset="0"/>
                <a:ea typeface="Be Vietnam"/>
                <a:cs typeface="Times New Roman" panose="02020603050405020304" pitchFamily="18" charset="0"/>
                <a:sym typeface="Be Vietnam"/>
              </a:rPr>
              <a:t>Source : </a:t>
            </a:r>
            <a:r>
              <a:rPr lang="en-US" sz="4000" i="1" dirty="0" err="1" smtClean="0">
                <a:solidFill>
                  <a:srgbClr val="D13B53"/>
                </a:solidFill>
                <a:latin typeface="Times New Roman" panose="02020603050405020304" pitchFamily="18" charset="0"/>
                <a:ea typeface="Be Vietnam"/>
                <a:cs typeface="Times New Roman" panose="02020603050405020304" pitchFamily="18" charset="0"/>
                <a:sym typeface="Be Vietnam"/>
                <a:hlinkClick r:id="rId5"/>
              </a:rPr>
              <a:t>Femtch</a:t>
            </a:r>
            <a:r>
              <a:rPr lang="en-US" sz="4000" i="1" dirty="0" smtClean="0">
                <a:solidFill>
                  <a:srgbClr val="D13B53"/>
                </a:solidFill>
                <a:latin typeface="Times New Roman" panose="02020603050405020304" pitchFamily="18" charset="0"/>
                <a:ea typeface="Be Vietnam"/>
                <a:cs typeface="Times New Roman" panose="02020603050405020304" pitchFamily="18" charset="0"/>
                <a:sym typeface="Be Vietnam"/>
                <a:hlinkClick r:id="rId5"/>
              </a:rPr>
              <a:t> </a:t>
            </a:r>
            <a:r>
              <a:rPr lang="en-US" sz="4000" i="1" dirty="0">
                <a:solidFill>
                  <a:srgbClr val="D13B53"/>
                </a:solidFill>
                <a:latin typeface="Times New Roman" panose="02020603050405020304" pitchFamily="18" charset="0"/>
                <a:ea typeface="Be Vietnam"/>
                <a:cs typeface="Times New Roman" panose="02020603050405020304" pitchFamily="18" charset="0"/>
                <a:sym typeface="Be Vietnam"/>
                <a:hlinkClick r:id="rId5"/>
              </a:rPr>
              <a:t>Analytics Report 2024</a:t>
            </a:r>
            <a:endParaRPr lang="en-US" sz="4000" dirty="0">
              <a:solidFill>
                <a:srgbClr val="D13B53"/>
              </a:solidFill>
              <a:latin typeface="Times New Roman" panose="02020603050405020304" pitchFamily="18" charset="0"/>
              <a:ea typeface="Be Vietnam"/>
              <a:cs typeface="Times New Roman" panose="02020603050405020304" pitchFamily="18" charset="0"/>
              <a:sym typeface="Be Vietnam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699" y="885825"/>
            <a:ext cx="11696699" cy="12168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46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Global </a:t>
            </a:r>
            <a:r>
              <a:rPr lang="en-US" sz="5000" b="1" dirty="0" err="1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FemTech</a:t>
            </a:r>
            <a:r>
              <a:rPr lang="en-US" sz="5000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Market Opportunity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798911" y="-62662"/>
            <a:ext cx="968733" cy="1814957"/>
          </a:xfrm>
          <a:custGeom>
            <a:avLst/>
            <a:gdLst/>
            <a:ahLst/>
            <a:cxnLst/>
            <a:rect l="l" t="t" r="r" b="b"/>
            <a:pathLst>
              <a:path w="968733" h="1814957">
                <a:moveTo>
                  <a:pt x="0" y="0"/>
                </a:moveTo>
                <a:lnTo>
                  <a:pt x="968734" y="0"/>
                </a:lnTo>
                <a:lnTo>
                  <a:pt x="968734" y="1814957"/>
                </a:lnTo>
                <a:lnTo>
                  <a:pt x="0" y="181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978939" y="360450"/>
            <a:ext cx="13944600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246"/>
              </a:lnSpc>
              <a:spcBef>
                <a:spcPct val="0"/>
              </a:spcBef>
            </a:pPr>
            <a:r>
              <a:rPr lang="en-US" sz="8033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GO-TO-MARKET STRATEGY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4752196"/>
              </p:ext>
            </p:extLst>
          </p:nvPr>
        </p:nvGraphicFramePr>
        <p:xfrm>
          <a:off x="2473108" y="2019300"/>
          <a:ext cx="12956262" cy="7288623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2709906">
                  <a:extLst>
                    <a:ext uri="{9D8B030D-6E8A-4147-A177-3AD203B41FA5}">
                      <a16:colId xmlns:a16="http://schemas.microsoft.com/office/drawing/2014/main" val="440308938"/>
                    </a:ext>
                  </a:extLst>
                </a:gridCol>
                <a:gridCol w="3987746">
                  <a:extLst>
                    <a:ext uri="{9D8B030D-6E8A-4147-A177-3AD203B41FA5}">
                      <a16:colId xmlns:a16="http://schemas.microsoft.com/office/drawing/2014/main" val="3093789418"/>
                    </a:ext>
                  </a:extLst>
                </a:gridCol>
                <a:gridCol w="6258610">
                  <a:extLst>
                    <a:ext uri="{9D8B030D-6E8A-4147-A177-3AD203B41FA5}">
                      <a16:colId xmlns:a16="http://schemas.microsoft.com/office/drawing/2014/main" val="4276985357"/>
                    </a:ext>
                  </a:extLst>
                </a:gridCol>
              </a:tblGrid>
              <a:tr h="765093">
                <a:tc>
                  <a:txBody>
                    <a:bodyPr/>
                    <a:lstStyle/>
                    <a:p>
                      <a:r>
                        <a:rPr lang="en-US" b="1" dirty="0"/>
                        <a:t>Phase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Target Segment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Key Actions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1453012"/>
                  </a:ext>
                </a:extLst>
              </a:tr>
              <a:tr h="1794416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(0–12 months)</a:t>
                      </a:r>
                    </a:p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Validate &amp; Seed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 Early Adopters(5M women, 120K 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Freemium 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Premium 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(PKR </a:t>
                      </a:r>
                      <a:r>
                        <a:rPr lang="en-US" sz="25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299/-)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20+ university partnerships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Performance ads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Campus ambassador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796024"/>
                  </a:ext>
                </a:extLst>
              </a:tr>
              <a:tr h="1808402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(12–24 months)</a:t>
                      </a:r>
                    </a:p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Scale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Urban/Semi-Urban Families(3M women, 500K 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 plans (PKR 200–400/user)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Localized WhatsApp communities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Pharmacy/OTC partnerships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Micro-influencer campaigns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53451118"/>
                  </a:ext>
                </a:extLst>
              </a:tr>
              <a:tr h="2718688">
                <a:tc>
                  <a:txBody>
                    <a:bodyPr/>
                    <a:lstStyle/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i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(24–36 months)</a:t>
                      </a:r>
                    </a:p>
                    <a:p>
                      <a:r>
                        <a:rPr lang="en-US" sz="25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Rural Expansion</a:t>
                      </a:r>
                      <a:endParaRPr lang="en-US" sz="25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"Digitally Adjacent" Rural Women(5M women, 250K target)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500 trained ambassadors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SMS/IVR health tools (zero-data cost)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US" sz="25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Sachet products (PKR 65)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3372396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16798911" y="-62662"/>
            <a:ext cx="968733" cy="1814957"/>
          </a:xfrm>
          <a:custGeom>
            <a:avLst/>
            <a:gdLst/>
            <a:ahLst/>
            <a:cxnLst/>
            <a:rect l="l" t="t" r="r" b="b"/>
            <a:pathLst>
              <a:path w="968733" h="1814957">
                <a:moveTo>
                  <a:pt x="0" y="0"/>
                </a:moveTo>
                <a:lnTo>
                  <a:pt x="968734" y="0"/>
                </a:lnTo>
                <a:lnTo>
                  <a:pt x="968734" y="1814957"/>
                </a:lnTo>
                <a:lnTo>
                  <a:pt x="0" y="18149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2450690" y="360450"/>
            <a:ext cx="13354675" cy="12168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6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FemCure</a:t>
            </a:r>
            <a:r>
              <a:rPr lang="en-US" sz="5000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Revenue Roadmap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906011"/>
              </p:ext>
            </p:extLst>
          </p:nvPr>
        </p:nvGraphicFramePr>
        <p:xfrm>
          <a:off x="3438837" y="2247900"/>
          <a:ext cx="12354238" cy="7139432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177946">
                  <a:extLst>
                    <a:ext uri="{9D8B030D-6E8A-4147-A177-3AD203B41FA5}">
                      <a16:colId xmlns:a16="http://schemas.microsoft.com/office/drawing/2014/main" val="147219626"/>
                    </a:ext>
                  </a:extLst>
                </a:gridCol>
                <a:gridCol w="2794185">
                  <a:extLst>
                    <a:ext uri="{9D8B030D-6E8A-4147-A177-3AD203B41FA5}">
                      <a16:colId xmlns:a16="http://schemas.microsoft.com/office/drawing/2014/main" val="4160569324"/>
                    </a:ext>
                  </a:extLst>
                </a:gridCol>
                <a:gridCol w="2650677">
                  <a:extLst>
                    <a:ext uri="{9D8B030D-6E8A-4147-A177-3AD203B41FA5}">
                      <a16:colId xmlns:a16="http://schemas.microsoft.com/office/drawing/2014/main" val="574900826"/>
                    </a:ext>
                  </a:extLst>
                </a:gridCol>
                <a:gridCol w="2365715">
                  <a:extLst>
                    <a:ext uri="{9D8B030D-6E8A-4147-A177-3AD203B41FA5}">
                      <a16:colId xmlns:a16="http://schemas.microsoft.com/office/drawing/2014/main" val="3041978082"/>
                    </a:ext>
                  </a:extLst>
                </a:gridCol>
                <a:gridCol w="2365715">
                  <a:extLst>
                    <a:ext uri="{9D8B030D-6E8A-4147-A177-3AD203B41FA5}">
                      <a16:colId xmlns:a16="http://schemas.microsoft.com/office/drawing/2014/main" val="1695585604"/>
                    </a:ext>
                  </a:extLst>
                </a:gridCol>
              </a:tblGrid>
              <a:tr h="1117600"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Stream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 (0-12months)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 (12-36 months)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 (36+</a:t>
                      </a:r>
                      <a:r>
                        <a:rPr lang="en-US" sz="2500" b="1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months</a:t>
                      </a:r>
                      <a:r>
                        <a:rPr lang="en-US" sz="25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Benefits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722209180"/>
                  </a:ext>
                </a:extLst>
              </a:tr>
              <a:tr h="1475232">
                <a:tc>
                  <a:txBody>
                    <a:bodyPr/>
                    <a:lstStyle/>
                    <a:p>
                      <a:r>
                        <a:rPr lang="en-US" sz="2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Subscriptions</a:t>
                      </a:r>
                      <a:endParaRPr lang="en-US" sz="2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₨</a:t>
                      </a:r>
                      <a:r>
                        <a:rPr lang="en-US" sz="2500" baseline="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299</a:t>
                      </a:r>
                      <a:r>
                        <a:rPr lang="en-US" sz="2500" dirty="0" smtClean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/user/month</a:t>
                      </a:r>
                      <a:endParaRPr lang="en-US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Corporate plans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 Multilingual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Personalized Plans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Community Forums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37960102"/>
                  </a:ext>
                </a:extLst>
              </a:tr>
              <a:tr h="1430528">
                <a:tc>
                  <a:txBody>
                    <a:bodyPr/>
                    <a:lstStyle/>
                    <a:p>
                      <a:r>
                        <a:rPr lang="en-US" sz="2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Kits</a:t>
                      </a:r>
                      <a:endParaRPr lang="en-US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 (₨390)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Med/Large (</a:t>
                      </a:r>
                      <a:r>
                        <a:rPr lang="en-US" sz="25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5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650+)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Bulk (₨300/unit)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Herbal Solutions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Tiered pricing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381632590"/>
                  </a:ext>
                </a:extLst>
              </a:tr>
              <a:tr h="1519936">
                <a:tc>
                  <a:txBody>
                    <a:bodyPr/>
                    <a:lstStyle/>
                    <a:p>
                      <a:r>
                        <a:rPr lang="en-US" sz="2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Services</a:t>
                      </a:r>
                      <a:endParaRPr lang="en-US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Ads (₨50/1K views)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Doctor Consults (₨1K/session)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SaaS Licensing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Verified specialists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Early</a:t>
                      </a:r>
                      <a:r>
                        <a:rPr lang="en-US" sz="2500" baseline="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detection</a:t>
                      </a:r>
                      <a:endParaRPr lang="en-US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3934785816"/>
                  </a:ext>
                </a:extLst>
              </a:tr>
              <a:tr h="1162304">
                <a:tc>
                  <a:txBody>
                    <a:bodyPr/>
                    <a:lstStyle/>
                    <a:p>
                      <a:r>
                        <a:rPr lang="en-US" sz="2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Revenue/Year</a:t>
                      </a:r>
                      <a:endParaRPr lang="en-US" sz="25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₨8.1M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₨30.0M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₨40.5M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endParaRPr lang="en-US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71613429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277100"/>
            <a:ext cx="2286000" cy="2708872"/>
          </a:xfrm>
          <a:custGeom>
            <a:avLst/>
            <a:gdLst/>
            <a:ahLst/>
            <a:cxnLst/>
            <a:rect l="l" t="t" r="r" b="b"/>
            <a:pathLst>
              <a:path w="4307715" h="6218486">
                <a:moveTo>
                  <a:pt x="0" y="0"/>
                </a:moveTo>
                <a:lnTo>
                  <a:pt x="4307715" y="0"/>
                </a:lnTo>
                <a:lnTo>
                  <a:pt x="4307715" y="6218486"/>
                </a:lnTo>
                <a:lnTo>
                  <a:pt x="0" y="6218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338056" y="429010"/>
            <a:ext cx="2372800" cy="2945915"/>
          </a:xfrm>
          <a:custGeom>
            <a:avLst/>
            <a:gdLst/>
            <a:ahLst/>
            <a:cxnLst/>
            <a:rect l="l" t="t" r="r" b="b"/>
            <a:pathLst>
              <a:path w="2372800" h="2945915">
                <a:moveTo>
                  <a:pt x="0" y="0"/>
                </a:moveTo>
                <a:lnTo>
                  <a:pt x="2372801" y="0"/>
                </a:lnTo>
                <a:lnTo>
                  <a:pt x="2372801" y="2945915"/>
                </a:lnTo>
                <a:lnTo>
                  <a:pt x="0" y="29459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825134" y="715914"/>
            <a:ext cx="11214466" cy="14362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46"/>
              </a:lnSpc>
              <a:spcBef>
                <a:spcPct val="0"/>
              </a:spcBef>
            </a:pPr>
            <a:r>
              <a:rPr lang="en-US" sz="5000" b="1" dirty="0" err="1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FemCure’s</a:t>
            </a:r>
            <a:r>
              <a:rPr lang="en-US" sz="5000" b="1" dirty="0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 Scalability &amp; Milestones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9881155"/>
              </p:ext>
            </p:extLst>
          </p:nvPr>
        </p:nvGraphicFramePr>
        <p:xfrm>
          <a:off x="3505200" y="2628900"/>
          <a:ext cx="11506200" cy="542392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857106">
                  <a:extLst>
                    <a:ext uri="{9D8B030D-6E8A-4147-A177-3AD203B41FA5}">
                      <a16:colId xmlns:a16="http://schemas.microsoft.com/office/drawing/2014/main" val="3714950388"/>
                    </a:ext>
                  </a:extLst>
                </a:gridCol>
                <a:gridCol w="2908431">
                  <a:extLst>
                    <a:ext uri="{9D8B030D-6E8A-4147-A177-3AD203B41FA5}">
                      <a16:colId xmlns:a16="http://schemas.microsoft.com/office/drawing/2014/main" val="4191970012"/>
                    </a:ext>
                  </a:extLst>
                </a:gridCol>
                <a:gridCol w="2908431">
                  <a:extLst>
                    <a:ext uri="{9D8B030D-6E8A-4147-A177-3AD203B41FA5}">
                      <a16:colId xmlns:a16="http://schemas.microsoft.com/office/drawing/2014/main" val="840894915"/>
                    </a:ext>
                  </a:extLst>
                </a:gridCol>
                <a:gridCol w="2832232">
                  <a:extLst>
                    <a:ext uri="{9D8B030D-6E8A-4147-A177-3AD203B41FA5}">
                      <a16:colId xmlns:a16="http://schemas.microsoft.com/office/drawing/2014/main" val="2245939363"/>
                    </a:ext>
                  </a:extLst>
                </a:gridCol>
              </a:tblGrid>
              <a:tr h="566312">
                <a:tc>
                  <a:txBody>
                    <a:bodyPr/>
                    <a:lstStyle/>
                    <a:p>
                      <a:pPr algn="l"/>
                      <a:r>
                        <a:rPr lang="en-US" sz="2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</a:t>
                      </a:r>
                      <a:endParaRPr lang="en-US" sz="2500" b="1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How We Scale</a:t>
                      </a:r>
                      <a:endParaRPr lang="en-US" sz="2500" b="1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Actions</a:t>
                      </a:r>
                      <a:endParaRPr lang="en-US" sz="2500" b="1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5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2500" b="1" dirty="0">
                        <a:solidFill>
                          <a:srgbClr val="F5F5F5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193852438"/>
                  </a:ext>
                </a:extLst>
              </a:tr>
              <a:tr h="1568962">
                <a:tc>
                  <a:txBody>
                    <a:bodyPr/>
                    <a:lstStyle/>
                    <a:p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1</a:t>
                      </a:r>
                      <a:b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(0-12mo)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App grows virally</a:t>
                      </a:r>
                      <a:b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Low-cost kits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Launch in 10 colleges</a:t>
                      </a:r>
                      <a:b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Partner with 5 clinics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5,000 users</a:t>
                      </a:r>
                      <a:b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5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4100843452"/>
                  </a:ext>
                </a:extLst>
              </a:tr>
              <a:tr h="1568962">
                <a:tc>
                  <a:txBody>
                    <a:bodyPr/>
                    <a:lstStyle/>
                    <a:p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2</a:t>
                      </a:r>
                      <a:b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(12-36mo)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Add paid services</a:t>
                      </a:r>
                      <a:b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Expand cities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Onboard specialists</a:t>
                      </a:r>
                      <a:b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Corporate wellness deals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50,000 users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753064672"/>
                  </a:ext>
                </a:extLst>
              </a:tr>
              <a:tr h="1568962"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Phase 3</a:t>
                      </a:r>
                      <a:b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(36+mo)</a:t>
                      </a:r>
                    </a:p>
                  </a:txBody>
                  <a:tcPr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Bulk contracts</a:t>
                      </a:r>
                      <a:b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National SMS alerts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Rural awareness drives</a:t>
                      </a:r>
                    </a:p>
                  </a:txBody>
                  <a:tcPr marL="95250" marR="95250" marT="95250" marB="95250" anchor="ctr"/>
                </a:tc>
                <a:tc>
                  <a:txBody>
                    <a:bodyPr/>
                    <a:lstStyle/>
                    <a:p>
                      <a:r>
                        <a:rPr lang="en-US" sz="25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200,000 users</a:t>
                      </a:r>
                    </a:p>
                  </a:txBody>
                  <a:tcPr marL="95250" marR="95250" marT="95250" marB="95250" anchor="ctr"/>
                </a:tc>
                <a:extLst>
                  <a:ext uri="{0D108BD9-81ED-4DB2-BD59-A6C34878D82A}">
                    <a16:rowId xmlns:a16="http://schemas.microsoft.com/office/drawing/2014/main" val="2309337384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6981" y="2877382"/>
            <a:ext cx="17417484" cy="3996066"/>
            <a:chOff x="0" y="0"/>
            <a:chExt cx="23223311" cy="5328087"/>
          </a:xfrm>
        </p:grpSpPr>
        <p:grpSp>
          <p:nvGrpSpPr>
            <p:cNvPr id="3" name="Group 3"/>
            <p:cNvGrpSpPr/>
            <p:nvPr/>
          </p:nvGrpSpPr>
          <p:grpSpPr>
            <a:xfrm>
              <a:off x="0" y="55488"/>
              <a:ext cx="3884494" cy="3884494"/>
              <a:chOff x="0" y="195926"/>
              <a:chExt cx="13716000" cy="13716000"/>
            </a:xfrm>
          </p:grpSpPr>
          <p:sp>
            <p:nvSpPr>
              <p:cNvPr id="4" name="Freeform 4"/>
              <p:cNvSpPr/>
              <p:nvPr/>
            </p:nvSpPr>
            <p:spPr>
              <a:xfrm>
                <a:off x="0" y="195926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blipFill>
                <a:blip r:embed="rId2"/>
                <a:stretch>
                  <a:fillRect l="-36989" t="-42097" r="-46098" b="-102020"/>
                </a:stretch>
              </a:blipFill>
            </p:spPr>
          </p:sp>
        </p:grpSp>
        <p:grpSp>
          <p:nvGrpSpPr>
            <p:cNvPr id="5" name="Group 5"/>
            <p:cNvGrpSpPr/>
            <p:nvPr/>
          </p:nvGrpSpPr>
          <p:grpSpPr>
            <a:xfrm>
              <a:off x="14532259" y="0"/>
              <a:ext cx="3884494" cy="3884494"/>
              <a:chOff x="0" y="0"/>
              <a:chExt cx="13716000" cy="137160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</p:sp>
        </p:grpSp>
        <p:grpSp>
          <p:nvGrpSpPr>
            <p:cNvPr id="7" name="Group 7"/>
            <p:cNvGrpSpPr/>
            <p:nvPr/>
          </p:nvGrpSpPr>
          <p:grpSpPr>
            <a:xfrm>
              <a:off x="9598241" y="0"/>
              <a:ext cx="3884494" cy="3884494"/>
              <a:chOff x="0" y="0"/>
              <a:chExt cx="13716000" cy="137160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</p:sp>
        </p:grpSp>
        <p:grpSp>
          <p:nvGrpSpPr>
            <p:cNvPr id="9" name="Group 9"/>
            <p:cNvGrpSpPr/>
            <p:nvPr/>
          </p:nvGrpSpPr>
          <p:grpSpPr>
            <a:xfrm>
              <a:off x="4933892" y="0"/>
              <a:ext cx="3884494" cy="3884494"/>
              <a:chOff x="0" y="0"/>
              <a:chExt cx="13716000" cy="13716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0" y="0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-9035" r="-9035"/>
                </a:stretch>
              </a:blipFill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19194178" y="0"/>
              <a:ext cx="3884494" cy="3884494"/>
              <a:chOff x="0" y="0"/>
              <a:chExt cx="13716000" cy="13716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3716000" cy="13716000"/>
              </a:xfrm>
              <a:custGeom>
                <a:avLst/>
                <a:gdLst/>
                <a:ahLst/>
                <a:cxnLst/>
                <a:rect l="l" t="t" r="r" b="b"/>
                <a:pathLst>
                  <a:path w="13716000" h="13716000">
                    <a:moveTo>
                      <a:pt x="6858000" y="0"/>
                    </a:moveTo>
                    <a:cubicBezTo>
                      <a:pt x="3070431" y="0"/>
                      <a:pt x="0" y="3070431"/>
                      <a:pt x="0" y="6858000"/>
                    </a:cubicBezTo>
                    <a:cubicBezTo>
                      <a:pt x="0" y="10645569"/>
                      <a:pt x="3070431" y="13716000"/>
                      <a:pt x="6858000" y="13716000"/>
                    </a:cubicBezTo>
                    <a:cubicBezTo>
                      <a:pt x="10645569" y="13716000"/>
                      <a:pt x="13716000" y="10645569"/>
                      <a:pt x="13716000" y="6858000"/>
                    </a:cubicBezTo>
                    <a:cubicBezTo>
                      <a:pt x="13716000" y="3070431"/>
                      <a:pt x="10645569" y="0"/>
                      <a:pt x="6858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2700">
                <a:solidFill>
                  <a:srgbClr val="000000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18365" y="4233770"/>
              <a:ext cx="2447765" cy="10581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1"/>
                </a:lnSpc>
                <a:spcBef>
                  <a:spcPct val="0"/>
                </a:spcBef>
              </a:pPr>
              <a:r>
                <a:rPr lang="en-US" sz="2315" b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Manahil Asif </a:t>
              </a:r>
            </a:p>
            <a:p>
              <a:pPr algn="ctr">
                <a:lnSpc>
                  <a:spcPts val="3241"/>
                </a:lnSpc>
                <a:spcBef>
                  <a:spcPct val="0"/>
                </a:spcBef>
              </a:pPr>
              <a:r>
                <a:rPr lang="en-US" sz="2315" b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Founder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334911" y="4233770"/>
              <a:ext cx="3082455" cy="10581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1"/>
                </a:lnSpc>
                <a:spcBef>
                  <a:spcPct val="0"/>
                </a:spcBef>
              </a:pPr>
              <a:r>
                <a:rPr lang="en-US" sz="2315" b="1" dirty="0" err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Malaika</a:t>
              </a: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</a:t>
              </a:r>
              <a:r>
                <a:rPr lang="en-US" sz="2315" b="1" dirty="0" err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Majeed</a:t>
              </a: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</a:t>
              </a:r>
            </a:p>
            <a:p>
              <a:pPr algn="ctr">
                <a:lnSpc>
                  <a:spcPts val="3241"/>
                </a:lnSpc>
                <a:spcBef>
                  <a:spcPct val="0"/>
                </a:spcBef>
              </a:pP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Co-Founder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530229" y="4233770"/>
              <a:ext cx="3980807" cy="10943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1"/>
                </a:lnSpc>
              </a:pPr>
              <a:r>
                <a:rPr lang="en-US" sz="2315" b="1" dirty="0" err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Dr.Aniqa</a:t>
              </a: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</a:t>
              </a:r>
              <a:r>
                <a:rPr lang="en-US" sz="2315" b="1" dirty="0" err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Dilawari</a:t>
              </a:r>
              <a:endParaRPr lang="en-US" sz="2315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endParaRPr>
            </a:p>
            <a:p>
              <a:pPr algn="ctr">
                <a:lnSpc>
                  <a:spcPts val="3241"/>
                </a:lnSpc>
                <a:spcBef>
                  <a:spcPct val="0"/>
                </a:spcBef>
              </a:pP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Advisor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635530" y="4233770"/>
              <a:ext cx="3677951" cy="105811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41"/>
                </a:lnSpc>
              </a:pP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Ms. Sameen Fatima</a:t>
              </a:r>
            </a:p>
            <a:p>
              <a:pPr algn="ctr">
                <a:lnSpc>
                  <a:spcPts val="3241"/>
                </a:lnSpc>
                <a:spcBef>
                  <a:spcPct val="0"/>
                </a:spcBef>
              </a:pP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Advisor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116234" y="4233770"/>
              <a:ext cx="4107077" cy="1094317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41"/>
                </a:lnSpc>
              </a:pP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Dr</a:t>
              </a:r>
              <a:r>
                <a:rPr lang="en-US" sz="2315" b="1" dirty="0" smtClean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. </a:t>
              </a:r>
              <a:r>
                <a:rPr lang="en-US" sz="2315" b="1" dirty="0" err="1" smtClean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Ramsha</a:t>
              </a:r>
              <a:r>
                <a:rPr lang="en-US" sz="2315" b="1" dirty="0" smtClean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 </a:t>
              </a:r>
              <a:r>
                <a:rPr lang="en-US" sz="2315" b="1" dirty="0" err="1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Haider</a:t>
              </a:r>
              <a:endParaRPr lang="en-US" sz="2315" b="1" dirty="0">
                <a:solidFill>
                  <a:srgbClr val="000000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endParaRPr>
            </a:p>
            <a:p>
              <a:pPr algn="ctr">
                <a:lnSpc>
                  <a:spcPts val="3241"/>
                </a:lnSpc>
                <a:spcBef>
                  <a:spcPct val="0"/>
                </a:spcBef>
              </a:pPr>
              <a:r>
                <a:rPr lang="en-US" sz="2315" b="1" dirty="0">
                  <a:solidFill>
                    <a:srgbClr val="000000"/>
                  </a:solidFill>
                  <a:latin typeface="Be Vietnam Ultra-Bold"/>
                  <a:ea typeface="Be Vietnam Ultra-Bold"/>
                  <a:cs typeface="Be Vietnam Ultra-Bold"/>
                  <a:sym typeface="Be Vietnam Ultra-Bold"/>
                </a:rPr>
                <a:t>Medical Consultant</a:t>
              </a:r>
            </a:p>
          </p:txBody>
        </p:sp>
      </p:grpSp>
      <p:sp>
        <p:nvSpPr>
          <p:cNvPr id="18" name="Freeform 18"/>
          <p:cNvSpPr/>
          <p:nvPr/>
        </p:nvSpPr>
        <p:spPr>
          <a:xfrm>
            <a:off x="11335586" y="2877382"/>
            <a:ext cx="3080308" cy="3080308"/>
          </a:xfrm>
          <a:custGeom>
            <a:avLst/>
            <a:gdLst/>
            <a:ahLst/>
            <a:cxnLst/>
            <a:rect l="l" t="t" r="r" b="b"/>
            <a:pathLst>
              <a:path w="3080308" h="3080308">
                <a:moveTo>
                  <a:pt x="0" y="0"/>
                </a:moveTo>
                <a:lnTo>
                  <a:pt x="3080308" y="0"/>
                </a:lnTo>
                <a:lnTo>
                  <a:pt x="3080308" y="3080308"/>
                </a:lnTo>
                <a:lnTo>
                  <a:pt x="0" y="3080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4760711" y="2753918"/>
            <a:ext cx="3080308" cy="3080308"/>
          </a:xfrm>
          <a:custGeom>
            <a:avLst/>
            <a:gdLst/>
            <a:ahLst/>
            <a:cxnLst/>
            <a:rect l="l" t="t" r="r" b="b"/>
            <a:pathLst>
              <a:path w="3080308" h="3080308">
                <a:moveTo>
                  <a:pt x="0" y="0"/>
                </a:moveTo>
                <a:lnTo>
                  <a:pt x="3080308" y="0"/>
                </a:lnTo>
                <a:lnTo>
                  <a:pt x="3080308" y="3080308"/>
                </a:lnTo>
                <a:lnTo>
                  <a:pt x="0" y="308030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829130" y="885825"/>
            <a:ext cx="14629740" cy="135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246"/>
              </a:lnSpc>
              <a:spcBef>
                <a:spcPct val="0"/>
              </a:spcBef>
            </a:pPr>
            <a:r>
              <a:rPr lang="en-US" sz="8033" b="1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THE TEAM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6981" y="7066637"/>
            <a:ext cx="3386703" cy="38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3"/>
              </a:lnSpc>
              <a:spcBef>
                <a:spcPct val="0"/>
              </a:spcBef>
            </a:pPr>
            <a:r>
              <a:rPr lang="en-US" sz="235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AI/ML, leadership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027983" y="7066637"/>
            <a:ext cx="3386703" cy="797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3"/>
              </a:lnSpc>
              <a:spcBef>
                <a:spcPct val="0"/>
              </a:spcBef>
            </a:pPr>
            <a:r>
              <a:rPr lang="en-US" sz="235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App/system design, data management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450648" y="7055747"/>
            <a:ext cx="3386703" cy="16167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3"/>
              </a:lnSpc>
            </a:pPr>
            <a:r>
              <a:rPr lang="en-US" sz="2352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PhD in Computer Science </a:t>
            </a:r>
          </a:p>
          <a:p>
            <a:pPr algn="ctr">
              <a:lnSpc>
                <a:spcPts val="3293"/>
              </a:lnSpc>
            </a:pPr>
            <a:r>
              <a:rPr lang="en-US" sz="2352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AI training, model</a:t>
            </a:r>
          </a:p>
          <a:p>
            <a:pPr algn="ctr">
              <a:lnSpc>
                <a:spcPts val="3293"/>
              </a:lnSpc>
              <a:spcBef>
                <a:spcPct val="0"/>
              </a:spcBef>
            </a:pPr>
            <a:r>
              <a:rPr lang="en-US" sz="2352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development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82389" y="7066637"/>
            <a:ext cx="3386703" cy="7975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3"/>
              </a:lnSpc>
              <a:spcBef>
                <a:spcPct val="0"/>
              </a:spcBef>
            </a:pPr>
            <a:r>
              <a:rPr lang="en-US" sz="2352" dirty="0" err="1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M.Phil</a:t>
            </a:r>
            <a:r>
              <a:rPr lang="en-US" sz="2352" dirty="0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 in Computer Science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765519" y="7271424"/>
            <a:ext cx="3386703" cy="387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93"/>
              </a:lnSpc>
              <a:spcBef>
                <a:spcPct val="0"/>
              </a:spcBef>
            </a:pPr>
            <a:r>
              <a:rPr lang="en-US" sz="2352">
                <a:solidFill>
                  <a:srgbClr val="000000"/>
                </a:solidFill>
                <a:latin typeface="Be Vietnam"/>
                <a:ea typeface="Be Vietnam"/>
                <a:cs typeface="Be Vietnam"/>
                <a:sym typeface="Be Vietnam"/>
              </a:rPr>
              <a:t>MBBS Doctor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0004184" cy="10287000"/>
            <a:chOff x="0" y="0"/>
            <a:chExt cx="13338912" cy="1371600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7583" r="17583"/>
            <a:stretch>
              <a:fillRect/>
            </a:stretch>
          </p:blipFill>
          <p:spPr>
            <a:xfrm>
              <a:off x="0" y="0"/>
              <a:ext cx="13338912" cy="1371600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1266126" y="4318826"/>
            <a:ext cx="5233966" cy="13580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46"/>
              </a:lnSpc>
              <a:spcBef>
                <a:spcPct val="0"/>
              </a:spcBef>
            </a:pPr>
            <a:r>
              <a:rPr lang="en-US" sz="8033" b="1">
                <a:solidFill>
                  <a:srgbClr val="D13B53"/>
                </a:solidFill>
                <a:latin typeface="Be Vietnam Ultra-Bold"/>
                <a:ea typeface="Be Vietnam Ultra-Bold"/>
                <a:cs typeface="Be Vietnam Ultra-Bold"/>
                <a:sym typeface="Be Vietnam Ultra-Bold"/>
              </a:rPr>
              <a:t>Thankyou!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366</TotalTime>
  <Words>644</Words>
  <Application>Microsoft Office PowerPoint</Application>
  <PresentationFormat>Custom</PresentationFormat>
  <Paragraphs>152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Calibri</vt:lpstr>
      <vt:lpstr>Lovelo</vt:lpstr>
      <vt:lpstr>Arial</vt:lpstr>
      <vt:lpstr>Be Vietnam Ultra-Bold</vt:lpstr>
      <vt:lpstr>Times New Roman</vt:lpstr>
      <vt:lpstr>Be Vietnam</vt:lpstr>
      <vt:lpstr>Magnolia Script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FEMCURE</dc:title>
  <dc:creator>Manahil Asif</dc:creator>
  <cp:lastModifiedBy>Manahil Asif</cp:lastModifiedBy>
  <cp:revision>39</cp:revision>
  <dcterms:created xsi:type="dcterms:W3CDTF">2006-08-16T00:00:00Z</dcterms:created>
  <dcterms:modified xsi:type="dcterms:W3CDTF">2025-05-17T20:27:51Z</dcterms:modified>
  <dc:identifier>DAGmrb3KXdg</dc:identifier>
</cp:coreProperties>
</file>